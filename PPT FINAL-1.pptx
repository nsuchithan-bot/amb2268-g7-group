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0" r:id="rId7"/>
    <p:sldId id="271"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853D-50E0-7FD0-D553-9C8B614878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D1DD1E-B236-BA80-CB3D-0FDE599DB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0A740F-43BE-230C-F1E4-0A31120ABE91}"/>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5" name="Footer Placeholder 4">
            <a:extLst>
              <a:ext uri="{FF2B5EF4-FFF2-40B4-BE49-F238E27FC236}">
                <a16:creationId xmlns:a16="http://schemas.microsoft.com/office/drawing/2014/main" id="{9BFCF54E-DF06-BA31-86CE-C3F29D19CD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02224E-2F6F-1EA9-798C-61F5F2E7582C}"/>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264890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6884C-3F16-5097-4FC1-6886C69EB7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993267-F8A8-57A8-58AE-D25FFC9D65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E5072F-1B2D-26E9-68C7-DF2D512D06AF}"/>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5" name="Footer Placeholder 4">
            <a:extLst>
              <a:ext uri="{FF2B5EF4-FFF2-40B4-BE49-F238E27FC236}">
                <a16:creationId xmlns:a16="http://schemas.microsoft.com/office/drawing/2014/main" id="{21D4C69D-F21B-A62A-63AE-AB6D937C7A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0DCFF-17F7-4328-0568-17D83B431257}"/>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160350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61A4D-94E4-BEA9-8CB4-83D44085FD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D4916F-64D8-F261-24E9-552600E112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20A88D-99C8-8CC2-5010-0BB43A45A610}"/>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5" name="Footer Placeholder 4">
            <a:extLst>
              <a:ext uri="{FF2B5EF4-FFF2-40B4-BE49-F238E27FC236}">
                <a16:creationId xmlns:a16="http://schemas.microsoft.com/office/drawing/2014/main" id="{B8F3221E-03FB-20CC-4AE7-04F83FCF8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9E28C6-A8E5-840A-E499-93E06EE10D8B}"/>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68436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B5D5-D541-24A6-A715-D50375945D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693509-54B2-4273-9664-FB058B9D7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38F7BC-CFAB-A1A6-12B2-581D1DF085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359645-66C3-A9F0-37D0-6E8158998CEA}"/>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6" name="Footer Placeholder 5">
            <a:extLst>
              <a:ext uri="{FF2B5EF4-FFF2-40B4-BE49-F238E27FC236}">
                <a16:creationId xmlns:a16="http://schemas.microsoft.com/office/drawing/2014/main" id="{85A6C3AE-D9BC-CE45-8D17-2CA05A522E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58BABF-F86A-4494-80E8-AFF2330FC336}"/>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3595347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E465F-2AEA-FAB4-30C3-4454BFA325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C51C84-4199-B092-1C2F-4F7303971B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973D9-6ACF-6B77-6D80-8AF5A98B64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47E565-6911-BF6A-D36A-D9B3804E73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570D3D-84B4-B032-2F8F-2AD2F2998B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3C67BE-8B8A-0CC0-347F-8F3D1EA7BF75}"/>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8" name="Footer Placeholder 7">
            <a:extLst>
              <a:ext uri="{FF2B5EF4-FFF2-40B4-BE49-F238E27FC236}">
                <a16:creationId xmlns:a16="http://schemas.microsoft.com/office/drawing/2014/main" id="{4748719C-116E-28BD-D402-AEDBA399DD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447376-E17A-5476-254E-413A60740F5A}"/>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2726839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DCE0-F8EB-76B2-5B0F-DD4389D257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C51616-7501-F621-50F2-03E20CACC5DE}"/>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4" name="Footer Placeholder 3">
            <a:extLst>
              <a:ext uri="{FF2B5EF4-FFF2-40B4-BE49-F238E27FC236}">
                <a16:creationId xmlns:a16="http://schemas.microsoft.com/office/drawing/2014/main" id="{F831B139-B5ED-5A7F-D9FE-381E92A13A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CDCE846-D903-37F5-4505-46702654546E}"/>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41515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0B9FD-7469-FEDA-5C05-07A3BDA776C9}"/>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3" name="Footer Placeholder 2">
            <a:extLst>
              <a:ext uri="{FF2B5EF4-FFF2-40B4-BE49-F238E27FC236}">
                <a16:creationId xmlns:a16="http://schemas.microsoft.com/office/drawing/2014/main" id="{D3495172-4AF3-720B-05AF-3CC9C763873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412E31-9BD9-30EA-6F18-23B458B4F80D}"/>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2502713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4DCF7-95A1-318F-04B0-82DF1EACEF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B71ECC-285C-8F0B-0EE2-EDA8D94DA2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38C724-D32B-D00F-5EDB-EA529E8E3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18A8BB-C45C-2AFB-630F-E5E39E2A3A00}"/>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6" name="Footer Placeholder 5">
            <a:extLst>
              <a:ext uri="{FF2B5EF4-FFF2-40B4-BE49-F238E27FC236}">
                <a16:creationId xmlns:a16="http://schemas.microsoft.com/office/drawing/2014/main" id="{E085B49D-A571-35F0-4874-9C47208ABF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9027DF-5E3F-EA2B-DC70-154C46BA0B24}"/>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131705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D1D1E-9E25-5018-51AF-C9A450C74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A538E9-7C43-3CD5-F0FC-E107995C17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FA4FA39-C13C-B96A-7FE6-467EA2175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73E8C1-E728-6060-F639-E82BE7ACA7AC}"/>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6" name="Footer Placeholder 5">
            <a:extLst>
              <a:ext uri="{FF2B5EF4-FFF2-40B4-BE49-F238E27FC236}">
                <a16:creationId xmlns:a16="http://schemas.microsoft.com/office/drawing/2014/main" id="{AB0A1F1D-9C8C-9F49-6C8D-5D5DFFB650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8DC58D-7E3B-7793-0214-E8164AB2BFDA}"/>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267499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1E498-010D-4C76-F58A-D2C18AF2705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FC04B2-42C2-23A4-11CE-0CAA8CAEE0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C5444C-F379-2998-02EE-D95838428C1E}"/>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5" name="Footer Placeholder 4">
            <a:extLst>
              <a:ext uri="{FF2B5EF4-FFF2-40B4-BE49-F238E27FC236}">
                <a16:creationId xmlns:a16="http://schemas.microsoft.com/office/drawing/2014/main" id="{4ADAA8AB-275D-3AC2-9A1B-268735A0A7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F1C530-F2A7-D2DA-562E-2408F1CE97A9}"/>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3051569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A007F9-CF51-FA2F-4A84-94814906F4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0CDA71-581D-4B87-0422-0AB7FB8263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D36467-B530-B080-76CA-F9FE6F2757F3}"/>
              </a:ext>
            </a:extLst>
          </p:cNvPr>
          <p:cNvSpPr>
            <a:spLocks noGrp="1"/>
          </p:cNvSpPr>
          <p:nvPr>
            <p:ph type="dt" sz="half" idx="10"/>
          </p:nvPr>
        </p:nvSpPr>
        <p:spPr/>
        <p:txBody>
          <a:bodyPr/>
          <a:lstStyle/>
          <a:p>
            <a:fld id="{D9C02F15-AEFE-4C25-8DC9-8350A668AD4B}" type="datetimeFigureOut">
              <a:rPr lang="en-IN" smtClean="0"/>
              <a:t>16-04-2026</a:t>
            </a:fld>
            <a:endParaRPr lang="en-IN"/>
          </a:p>
        </p:txBody>
      </p:sp>
      <p:sp>
        <p:nvSpPr>
          <p:cNvPr id="5" name="Footer Placeholder 4">
            <a:extLst>
              <a:ext uri="{FF2B5EF4-FFF2-40B4-BE49-F238E27FC236}">
                <a16:creationId xmlns:a16="http://schemas.microsoft.com/office/drawing/2014/main" id="{42D344CF-CAF8-3D19-A8CB-25A18E46D6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8146A1-976A-E4C9-FCCB-7033BDB97254}"/>
              </a:ext>
            </a:extLst>
          </p:cNvPr>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430398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CC225-2153-866B-3D6E-88CAF8539B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B51CF3-9ABA-CE7E-6208-6E7EC5C076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7C5C53-A18B-A1D8-106A-C6CEA73BB8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C02F15-AEFE-4C25-8DC9-8350A668AD4B}" type="datetimeFigureOut">
              <a:rPr lang="en-IN" smtClean="0"/>
              <a:t>16-04-2026</a:t>
            </a:fld>
            <a:endParaRPr lang="en-IN"/>
          </a:p>
        </p:txBody>
      </p:sp>
      <p:sp>
        <p:nvSpPr>
          <p:cNvPr id="5" name="Footer Placeholder 4">
            <a:extLst>
              <a:ext uri="{FF2B5EF4-FFF2-40B4-BE49-F238E27FC236}">
                <a16:creationId xmlns:a16="http://schemas.microsoft.com/office/drawing/2014/main" id="{E3958E2A-6CFD-9D11-5F43-6C0E5A7E42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9EF5DD8-90A6-21BF-8B26-08420F576F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415A8C-67E8-4D2D-BD53-76CFE751689A}" type="slidenum">
              <a:rPr lang="en-IN" smtClean="0"/>
              <a:t>‹#›</a:t>
            </a:fld>
            <a:endParaRPr lang="en-IN"/>
          </a:p>
        </p:txBody>
      </p:sp>
    </p:spTree>
    <p:extLst>
      <p:ext uri="{BB962C8B-B14F-4D97-AF65-F5344CB8AC3E}">
        <p14:creationId xmlns:p14="http://schemas.microsoft.com/office/powerpoint/2010/main" val="4145002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CDA2-55C0-97FF-FC5C-2A12E4E79EAA}"/>
              </a:ext>
            </a:extLst>
          </p:cNvPr>
          <p:cNvSpPr>
            <a:spLocks noGrp="1"/>
          </p:cNvSpPr>
          <p:nvPr>
            <p:ph type="ctrTitle"/>
          </p:nvPr>
        </p:nvSpPr>
        <p:spPr>
          <a:xfrm>
            <a:off x="1175567" y="3086670"/>
            <a:ext cx="9144000" cy="975172"/>
          </a:xfrm>
        </p:spPr>
        <p:txBody>
          <a:bodyPr>
            <a:normAutofit fontScale="90000"/>
          </a:bodyPr>
          <a:lstStyle/>
          <a:p>
            <a:pPr algn="l"/>
            <a:r>
              <a:rPr lang="en-IN" sz="4800" dirty="0">
                <a:latin typeface="Times New Roman" panose="02020603050405020304" pitchFamily="18" charset="0"/>
                <a:cs typeface="Times New Roman" panose="02020603050405020304" pitchFamily="18" charset="0"/>
              </a:rPr>
              <a:t>Monthly Rainfall Prediction and Analysis using Machine Learning</a:t>
            </a:r>
          </a:p>
        </p:txBody>
      </p:sp>
      <p:sp>
        <p:nvSpPr>
          <p:cNvPr id="3" name="Subtitle 2">
            <a:extLst>
              <a:ext uri="{FF2B5EF4-FFF2-40B4-BE49-F238E27FC236}">
                <a16:creationId xmlns:a16="http://schemas.microsoft.com/office/drawing/2014/main" id="{C82F19D3-A721-37B3-1BFF-096CA1512FE3}"/>
              </a:ext>
            </a:extLst>
          </p:cNvPr>
          <p:cNvSpPr>
            <a:spLocks noGrp="1"/>
          </p:cNvSpPr>
          <p:nvPr>
            <p:ph type="subTitle" idx="1"/>
          </p:nvPr>
        </p:nvSpPr>
        <p:spPr>
          <a:xfrm>
            <a:off x="6945085" y="4800352"/>
            <a:ext cx="5050972" cy="1946275"/>
          </a:xfrm>
        </p:spPr>
        <p:txBody>
          <a:bodyPr>
            <a:normAutofit lnSpcReduction="10000"/>
          </a:bodyPr>
          <a:lstStyle/>
          <a:p>
            <a:pPr algn="l"/>
            <a:r>
              <a:rPr lang="en-IN" dirty="0"/>
              <a:t>EAI421 – Application of AI &amp; ML | IV B.Sc.(Hons.) Agriculture</a:t>
            </a:r>
          </a:p>
          <a:p>
            <a:pPr algn="l"/>
            <a:r>
              <a:rPr lang="en-IN" dirty="0"/>
              <a:t>Suchitha N - AMB2268 | Yashaswini B - AMB2304 | Srushti T S - AMB2267</a:t>
            </a:r>
          </a:p>
          <a:p>
            <a:pPr algn="l"/>
            <a:r>
              <a:rPr lang="en-IN" dirty="0"/>
              <a:t>Academic Year 2025-26</a:t>
            </a:r>
          </a:p>
        </p:txBody>
      </p:sp>
      <p:pic>
        <p:nvPicPr>
          <p:cNvPr id="4" name="Picture 3">
            <a:extLst>
              <a:ext uri="{FF2B5EF4-FFF2-40B4-BE49-F238E27FC236}">
                <a16:creationId xmlns:a16="http://schemas.microsoft.com/office/drawing/2014/main" id="{9BA64635-5D0A-2372-382C-A978CB05A6E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34310" y="401885"/>
            <a:ext cx="2874010" cy="1946275"/>
          </a:xfrm>
          <a:prstGeom prst="rect">
            <a:avLst/>
          </a:prstGeom>
          <a:noFill/>
          <a:ln>
            <a:noFill/>
          </a:ln>
        </p:spPr>
      </p:pic>
      <p:sp>
        <p:nvSpPr>
          <p:cNvPr id="6" name="TextBox 5">
            <a:extLst>
              <a:ext uri="{FF2B5EF4-FFF2-40B4-BE49-F238E27FC236}">
                <a16:creationId xmlns:a16="http://schemas.microsoft.com/office/drawing/2014/main" id="{000F93BF-F706-C597-2EA2-FB3C33B61910}"/>
              </a:ext>
            </a:extLst>
          </p:cNvPr>
          <p:cNvSpPr txBox="1"/>
          <p:nvPr/>
        </p:nvSpPr>
        <p:spPr>
          <a:xfrm>
            <a:off x="1012280" y="491364"/>
            <a:ext cx="7293430" cy="1718419"/>
          </a:xfrm>
          <a:prstGeom prst="rect">
            <a:avLst/>
          </a:prstGeom>
          <a:noFill/>
        </p:spPr>
        <p:txBody>
          <a:bodyPr wrap="square">
            <a:spAutoFit/>
          </a:bodyPr>
          <a:lstStyle/>
          <a:p>
            <a:pPr algn="ctr">
              <a:spcBef>
                <a:spcPts val="600"/>
              </a:spcBef>
              <a:spcAft>
                <a:spcPts val="700"/>
              </a:spcAft>
              <a:buNone/>
            </a:pPr>
            <a:r>
              <a:rPr lang="en-IN" sz="2800" b="1" dirty="0">
                <a:solidFill>
                  <a:srgbClr val="1F4E79"/>
                </a:solidFill>
                <a:effectLst/>
                <a:latin typeface="Algerian" panose="04020705040A02060702" pitchFamily="82" charset="0"/>
                <a:ea typeface="Arial" panose="020B0604020202020204" pitchFamily="34" charset="0"/>
              </a:rPr>
              <a:t>UNIVERSITY OF AGRICULTURAL SCIENCES ,</a:t>
            </a:r>
            <a:endParaRPr lang="en-IN" sz="1200" dirty="0">
              <a:effectLst/>
              <a:latin typeface="Arial" panose="020B0604020202020204" pitchFamily="34" charset="0"/>
              <a:ea typeface="Arial" panose="020B0604020202020204" pitchFamily="34" charset="0"/>
            </a:endParaRPr>
          </a:p>
          <a:p>
            <a:pPr algn="ctr">
              <a:spcBef>
                <a:spcPts val="600"/>
              </a:spcBef>
              <a:spcAft>
                <a:spcPts val="700"/>
              </a:spcAft>
              <a:buNone/>
            </a:pPr>
            <a:r>
              <a:rPr lang="en-IN" sz="2800" b="1" dirty="0">
                <a:solidFill>
                  <a:srgbClr val="1F4E79"/>
                </a:solidFill>
                <a:effectLst/>
                <a:latin typeface="Algerian" panose="04020705040A02060702" pitchFamily="82" charset="0"/>
                <a:ea typeface="Arial" panose="020B0604020202020204" pitchFamily="34" charset="0"/>
              </a:rPr>
              <a:t>COLLEGE OF AGRICULTURE,</a:t>
            </a:r>
            <a:endParaRPr lang="en-IN" sz="1200" dirty="0">
              <a:effectLst/>
              <a:latin typeface="Arial" panose="020B0604020202020204" pitchFamily="34" charset="0"/>
              <a:ea typeface="Arial" panose="020B0604020202020204" pitchFamily="34" charset="0"/>
            </a:endParaRPr>
          </a:p>
          <a:p>
            <a:pPr algn="ctr">
              <a:spcBef>
                <a:spcPts val="600"/>
              </a:spcBef>
              <a:spcAft>
                <a:spcPts val="700"/>
              </a:spcAft>
              <a:buNone/>
            </a:pPr>
            <a:r>
              <a:rPr lang="en-IN" sz="2800" b="1" dirty="0">
                <a:solidFill>
                  <a:srgbClr val="1F4E79"/>
                </a:solidFill>
                <a:effectLst/>
                <a:latin typeface="Algerian" panose="04020705040A02060702" pitchFamily="82" charset="0"/>
                <a:ea typeface="Arial" panose="020B0604020202020204" pitchFamily="34" charset="0"/>
              </a:rPr>
              <a:t>GKVK, BANGLORE</a:t>
            </a: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07688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67D4-B5AC-88D0-1315-459ABFF5F7FD}"/>
              </a:ext>
            </a:extLst>
          </p:cNvPr>
          <p:cNvSpPr>
            <a:spLocks noGrp="1"/>
          </p:cNvSpPr>
          <p:nvPr>
            <p:ph type="title"/>
          </p:nvPr>
        </p:nvSpPr>
        <p:spPr>
          <a:xfrm>
            <a:off x="838200" y="18255"/>
            <a:ext cx="10515600" cy="1325563"/>
          </a:xfrm>
        </p:spPr>
        <p:txBody>
          <a:bodyPr/>
          <a:lstStyle/>
          <a:p>
            <a:r>
              <a:rPr lang="en-IN">
                <a:latin typeface="Times New Roman" panose="02020603050405020304" pitchFamily="18" charset="0"/>
                <a:cs typeface="Times New Roman" panose="02020603050405020304" pitchFamily="18" charset="0"/>
              </a:rPr>
              <a:t>Content</a:t>
            </a:r>
          </a:p>
        </p:txBody>
      </p:sp>
      <p:sp>
        <p:nvSpPr>
          <p:cNvPr id="3" name="Content Placeholder 2">
            <a:extLst>
              <a:ext uri="{FF2B5EF4-FFF2-40B4-BE49-F238E27FC236}">
                <a16:creationId xmlns:a16="http://schemas.microsoft.com/office/drawing/2014/main" id="{D305BA53-3DA3-A241-19B4-AAADAD8A077F}"/>
              </a:ext>
            </a:extLst>
          </p:cNvPr>
          <p:cNvSpPr>
            <a:spLocks noGrp="1"/>
          </p:cNvSpPr>
          <p:nvPr>
            <p:ph idx="1"/>
          </p:nvPr>
        </p:nvSpPr>
        <p:spPr>
          <a:xfrm>
            <a:off x="838200" y="1131570"/>
            <a:ext cx="10515600" cy="5045393"/>
          </a:xfrm>
        </p:spPr>
        <p:txBody>
          <a:bodyPr>
            <a:normAutofit fontScale="85000" lnSpcReduction="20000"/>
          </a:bodyPr>
          <a:lstStyle/>
          <a:p>
            <a:endParaRPr lang="en-IN"/>
          </a:p>
          <a:p>
            <a:r>
              <a:rPr lang="en-IN" sz="3300">
                <a:latin typeface="Times New Roman" panose="02020603050405020304" pitchFamily="18" charset="0"/>
                <a:cs typeface="Times New Roman" panose="02020603050405020304" pitchFamily="18" charset="0"/>
              </a:rPr>
              <a:t>Introduction</a:t>
            </a:r>
          </a:p>
          <a:p>
            <a:r>
              <a:rPr lang="en-IN" sz="3300">
                <a:latin typeface="Times New Roman" panose="02020603050405020304" pitchFamily="18" charset="0"/>
                <a:cs typeface="Times New Roman" panose="02020603050405020304" pitchFamily="18" charset="0"/>
              </a:rPr>
              <a:t>Problem Statement</a:t>
            </a:r>
          </a:p>
          <a:p>
            <a:r>
              <a:rPr lang="en-IN" sz="3300">
                <a:latin typeface="Times New Roman" panose="02020603050405020304" pitchFamily="18" charset="0"/>
                <a:cs typeface="Times New Roman" panose="02020603050405020304" pitchFamily="18" charset="0"/>
              </a:rPr>
              <a:t>Motivation</a:t>
            </a:r>
          </a:p>
          <a:p>
            <a:r>
              <a:rPr lang="en-IN" sz="3300">
                <a:latin typeface="Times New Roman" panose="02020603050405020304" pitchFamily="18" charset="0"/>
                <a:cs typeface="Times New Roman" panose="02020603050405020304" pitchFamily="18" charset="0"/>
              </a:rPr>
              <a:t>Objectives of the project</a:t>
            </a:r>
          </a:p>
          <a:p>
            <a:r>
              <a:rPr lang="en-IN" sz="3300">
                <a:latin typeface="Times New Roman" panose="02020603050405020304" pitchFamily="18" charset="0"/>
                <a:cs typeface="Times New Roman" panose="02020603050405020304" pitchFamily="18" charset="0"/>
              </a:rPr>
              <a:t>Dataset Overview</a:t>
            </a:r>
          </a:p>
          <a:p>
            <a:r>
              <a:rPr lang="en-IN" sz="3300">
                <a:latin typeface="Times New Roman" panose="02020603050405020304" pitchFamily="18" charset="0"/>
                <a:cs typeface="Times New Roman" panose="02020603050405020304" pitchFamily="18" charset="0"/>
              </a:rPr>
              <a:t>Methodlogy/approach</a:t>
            </a:r>
          </a:p>
          <a:p>
            <a:r>
              <a:rPr lang="en-IN" sz="3300">
                <a:latin typeface="Times New Roman" panose="02020603050405020304" pitchFamily="18" charset="0"/>
                <a:cs typeface="Times New Roman" panose="02020603050405020304" pitchFamily="18" charset="0"/>
              </a:rPr>
              <a:t>Tools and Technologies Used</a:t>
            </a:r>
          </a:p>
          <a:p>
            <a:r>
              <a:rPr lang="en-IN" sz="3300">
                <a:latin typeface="Times New Roman" panose="02020603050405020304" pitchFamily="18" charset="0"/>
                <a:cs typeface="Times New Roman" panose="02020603050405020304" pitchFamily="18" charset="0"/>
              </a:rPr>
              <a:t>Results</a:t>
            </a:r>
          </a:p>
          <a:p>
            <a:r>
              <a:rPr lang="en-IN" sz="3300">
                <a:latin typeface="Times New Roman" panose="02020603050405020304" pitchFamily="18" charset="0"/>
                <a:cs typeface="Times New Roman" panose="02020603050405020304" pitchFamily="18" charset="0"/>
              </a:rPr>
              <a:t>Discussion / Analysis</a:t>
            </a:r>
          </a:p>
          <a:p>
            <a:r>
              <a:rPr lang="en-IN" sz="3300">
                <a:latin typeface="Times New Roman" panose="02020603050405020304" pitchFamily="18" charset="0"/>
                <a:cs typeface="Times New Roman" panose="02020603050405020304" pitchFamily="18" charset="0"/>
              </a:rPr>
              <a:t>Conclusion and Future Work</a:t>
            </a:r>
          </a:p>
          <a:p>
            <a:r>
              <a:rPr lang="en-IN" sz="3300">
                <a:latin typeface="Times New Roman" panose="02020603050405020304" pitchFamily="18" charset="0"/>
                <a:cs typeface="Times New Roman" panose="02020603050405020304" pitchFamily="18" charset="0"/>
              </a:rPr>
              <a:t>References/Acknowledgements</a:t>
            </a:r>
          </a:p>
          <a:p>
            <a:endParaRPr lang="en-IN"/>
          </a:p>
        </p:txBody>
      </p:sp>
    </p:spTree>
    <p:extLst>
      <p:ext uri="{BB962C8B-B14F-4D97-AF65-F5344CB8AC3E}">
        <p14:creationId xmlns:p14="http://schemas.microsoft.com/office/powerpoint/2010/main" val="3355718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88F0-1B1A-F8E0-28FB-2E91D41353DD}"/>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BC2088-2537-C898-EDE8-F29A38AB465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India’s agriculture is predominantly rain-fed, making rainfall prediction critical for crop planning and resource management.</a:t>
            </a:r>
          </a:p>
          <a:p>
            <a:r>
              <a:rPr lang="en-US" dirty="0">
                <a:latin typeface="Times New Roman" panose="02020603050405020304" pitchFamily="18" charset="0"/>
                <a:cs typeface="Times New Roman" panose="02020603050405020304" pitchFamily="18" charset="0"/>
              </a:rPr>
              <a:t>Traditional numerical weather models require high-resolution data and complex infrastructure — beyond district/farm level access.</a:t>
            </a:r>
          </a:p>
          <a:p>
            <a:r>
              <a:rPr lang="en-US" dirty="0">
                <a:latin typeface="Times New Roman" panose="02020603050405020304" pitchFamily="18" charset="0"/>
                <a:cs typeface="Times New Roman" panose="02020603050405020304" pitchFamily="18" charset="0"/>
              </a:rPr>
              <a:t>Machine Learning (ML) can capture non-linear seasonal patterns using limited historical data to support agricultural decision-making.</a:t>
            </a:r>
          </a:p>
          <a:p>
            <a:r>
              <a:rPr lang="en-US" dirty="0">
                <a:latin typeface="Times New Roman" panose="02020603050405020304" pitchFamily="18" charset="0"/>
                <a:cs typeface="Times New Roman" panose="02020603050405020304" pitchFamily="18" charset="0"/>
              </a:rPr>
              <a:t>This project builds and compares three ML models — Random Forest, Decision Tree, and Linear Regression — on 4 years of monthly rainfall data (2022–2025).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85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EC64E-6259-BDEB-81C7-0AA3632683C2}"/>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3F4DE5B-6CAB-30B3-9B45-552EB9F59200}"/>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Traditional rainfall forecasting requires complex atmospheric models — inaccessible at district or farm level in developing economies. Farmers make crop and irrigation decisions without reliable rainfall forecasts — leading to losses and water scarcity. Challenge: Build an accurate, lightweight ML model using only 48 monthly observations (4 years, </a:t>
            </a:r>
            <a:r>
              <a:rPr lang="en-US">
                <a:latin typeface="Times New Roman" panose="02020603050405020304" pitchFamily="18" charset="0"/>
                <a:cs typeface="Times New Roman" panose="02020603050405020304" pitchFamily="18" charset="0"/>
              </a:rPr>
              <a:t>2022–2025). Which </a:t>
            </a:r>
            <a:r>
              <a:rPr lang="en-US" dirty="0">
                <a:latin typeface="Times New Roman" panose="02020603050405020304" pitchFamily="18" charset="0"/>
                <a:cs typeface="Times New Roman" panose="02020603050405020304" pitchFamily="18" charset="0"/>
              </a:rPr>
              <a:t>algorithm — Random Forest, Decision Tree, or Linear Regression — best predicts monthly rainfall from small datasets?</a:t>
            </a:r>
          </a:p>
        </p:txBody>
      </p:sp>
    </p:spTree>
    <p:extLst>
      <p:ext uri="{BB962C8B-B14F-4D97-AF65-F5344CB8AC3E}">
        <p14:creationId xmlns:p14="http://schemas.microsoft.com/office/powerpoint/2010/main" val="3420363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78E53-408F-025E-A2C8-E0A26CA86A40}"/>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87956503-8164-BAD0-BA07-89BB5BB1D8CA}"/>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India’s rain-fed agriculture is highly sensitive to rainfall variability — even small deviations cause crop losses.</a:t>
            </a:r>
          </a:p>
          <a:p>
            <a:r>
              <a:rPr lang="en-US">
                <a:latin typeface="Times New Roman" panose="02020603050405020304" pitchFamily="18" charset="0"/>
                <a:cs typeface="Times New Roman" panose="02020603050405020304" pitchFamily="18" charset="0"/>
              </a:rPr>
              <a:t>Accurate forecasts enable better crop selection, sowing dates, irrigation scheduling, and harvest planning.</a:t>
            </a:r>
          </a:p>
          <a:p>
            <a:r>
              <a:rPr lang="en-US">
                <a:latin typeface="Times New Roman" panose="02020603050405020304" pitchFamily="18" charset="0"/>
                <a:cs typeface="Times New Roman" panose="02020603050405020304" pitchFamily="18" charset="0"/>
              </a:rPr>
              <a:t>Lightweight ML models can deliver district-level forecasts without costly weather infrastructure.</a:t>
            </a:r>
          </a:p>
          <a:p>
            <a:r>
              <a:rPr lang="en-US">
                <a:latin typeface="Times New Roman" panose="02020603050405020304" pitchFamily="18" charset="0"/>
                <a:cs typeface="Times New Roman" panose="02020603050405020304" pitchFamily="18" charset="0"/>
              </a:rPr>
              <a:t>Findings directly applicable to agricultural extension services, crop planning, and water management.</a:t>
            </a:r>
          </a:p>
        </p:txBody>
      </p:sp>
    </p:spTree>
    <p:extLst>
      <p:ext uri="{BB962C8B-B14F-4D97-AF65-F5344CB8AC3E}">
        <p14:creationId xmlns:p14="http://schemas.microsoft.com/office/powerpoint/2010/main" val="3420363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D01B0FA-D2D6-0D9B-F4E6-EFA6800330F3}"/>
              </a:ext>
            </a:extLst>
          </p:cNvPr>
          <p:cNvSpPr>
            <a:spLocks noGrp="1" noChangeArrowheads="1"/>
          </p:cNvSpPr>
          <p:nvPr>
            <p:ph idx="1"/>
          </p:nvPr>
        </p:nvSpPr>
        <p:spPr bwMode="auto">
          <a:xfrm>
            <a:off x="66675" y="-70744"/>
            <a:ext cx="11287125" cy="6824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88872"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A237E"/>
                </a:solidFill>
                <a:effectLst/>
                <a:latin typeface="Arial" panose="020B0604020202020204" pitchFamily="34" charset="0"/>
                <a:cs typeface="Arial" panose="020B0604020202020204" pitchFamily="34" charset="0"/>
              </a:rPr>
              <a:t>3. Literature Review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a:ln>
                <a:noFill/>
              </a:ln>
              <a:solidFill>
                <a:srgbClr val="1565C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rPr>
              <a:t>3.1 Machine Learning in Meteorological Prediction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ea typeface="Arial" panose="020B0604020202020204" pitchFamily="34" charset="0"/>
              </a:rPr>
              <a:t>Rasp et al. (2018) demonstrated that deep learning models can emulate complex atmospheric dynamics, outperforming traditional numerical weather prediction models on short-range tasks. Mishra and Desai (2006) applied Support Vector Machine (SVM) regression to monthly rainfall prediction in India, achieving lower prediction errors compared to autoregressive models. They noted that non-linear kernel methods capture seasonal patterns more effectively than classical time-series approaches</a:t>
            </a:r>
            <a:r>
              <a:rPr kumimoji="0" lang="en-US" altLang="en-US" i="0" u="none" strike="noStrike" cap="none" normalizeH="0" baseline="0" dirty="0">
                <a:ln>
                  <a:noFill/>
                </a:ln>
                <a:solidFill>
                  <a:schemeClr val="tx1"/>
                </a:solidFill>
                <a:effectLst/>
                <a:latin typeface="Arial" panose="020B0604020202020204" pitchFamily="34" charset="0"/>
                <a:ea typeface="Arial" panose="020B0604020202020204" pitchFamily="34" charset="0"/>
              </a:rPr>
              <a:t>.</a:t>
            </a:r>
            <a:endPar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rPr>
              <a:t>3.2 Random Forest in Climate Prediction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err="1">
                <a:ln>
                  <a:noFill/>
                </a:ln>
                <a:solidFill>
                  <a:schemeClr val="tx1"/>
                </a:solidFill>
                <a:effectLst/>
                <a:ea typeface="Arial" panose="020B0604020202020204" pitchFamily="34" charset="0"/>
              </a:rPr>
              <a:t>Breiman</a:t>
            </a:r>
            <a:r>
              <a:rPr kumimoji="0" lang="en-US" altLang="en-US" i="0" u="none" strike="noStrike" cap="none" normalizeH="0" baseline="0" dirty="0">
                <a:ln>
                  <a:noFill/>
                </a:ln>
                <a:solidFill>
                  <a:schemeClr val="tx1"/>
                </a:solidFill>
                <a:effectLst/>
                <a:ea typeface="Arial" panose="020B0604020202020204" pitchFamily="34" charset="0"/>
              </a:rPr>
              <a:t> (2001) introduced the Random Forest algorithm and demonstrated its superiority over single decision trees in reducing variance and improving generalization. Rodriguez-Galiano et al. (2014) applied Random Forest to precipitation analysis and reported consistently high accuracy even with small training sets — directly relevant to the 48-sample dataset used in this project. Feng et al. (2019) applied Random Forest to seasonal rainfall prediction, achieving R² values above 0.85.</a:t>
            </a:r>
            <a:endPar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rPr>
              <a:t>3.3 Decision Tree Classifier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ea typeface="Arial" panose="020B0604020202020204" pitchFamily="34" charset="0"/>
              </a:rPr>
              <a:t>Quinlan (1986) introduced entropy-based splitting as a standard technique in classification problems. Decision trees have since been widely used in agricultural decision support systems due to their interpretability and low computational requirements. Zamani Joharestani et al. (2019) recommended Decision Trees for datasets with fewer than 100 samples, which aligns with the small dataset scenario in this project.</a:t>
            </a:r>
            <a:endPar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rPr>
              <a:t>3.4 Linear Regression for Rainfall Forecasting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ea typeface="Arial" panose="020B0604020202020204" pitchFamily="34" charset="0"/>
              </a:rPr>
              <a:t>Chattopadhyay and Chattopadhyay (2010) applied multiple linear regression for long-range forecasting of summer monsoon rainfall in India, highlighting that linear regression provides a transparent, interpretable baseline. Nayak et al. (2013) concluded that for short time series (less than 60 observations), linear regression remains competitive owing to lower risk of overfitting and greater model stability.</a:t>
            </a:r>
            <a:endParaRPr kumimoji="0" lang="en-US" altLang="en-US" i="0" u="none" strike="noStrike" cap="none" normalizeH="0" baseline="0" dirty="0">
              <a:ln>
                <a:noFill/>
              </a:ln>
              <a:solidFill>
                <a:srgbClr val="1565C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3668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D5BE9-B3F1-808F-42D1-777093DAAD45}"/>
              </a:ext>
            </a:extLst>
          </p:cNvPr>
          <p:cNvSpPr>
            <a:spLocks noGrp="1"/>
          </p:cNvSpPr>
          <p:nvPr>
            <p:ph type="title"/>
          </p:nvPr>
        </p:nvSpPr>
        <p:spPr>
          <a:xfrm>
            <a:off x="637032" y="291973"/>
            <a:ext cx="10515600" cy="1325563"/>
          </a:xfrm>
        </p:spPr>
        <p:txBody>
          <a:bodyPr>
            <a:normAutofit fontScale="90000"/>
          </a:bodyPr>
          <a:lstStyle/>
          <a:p>
            <a:pPr lvl="0" eaLnBrk="0" fontAlgn="base" hangingPunct="0">
              <a:lnSpc>
                <a:spcPct val="100000"/>
              </a:lnSpc>
              <a:spcAft>
                <a:spcPct val="0"/>
              </a:spcAft>
            </a:pPr>
            <a:r>
              <a:rPr lang="en-US" altLang="en-US" sz="3100" dirty="0">
                <a:solidFill>
                  <a:srgbClr val="1565C0"/>
                </a:solidFill>
                <a:latin typeface="Arial" panose="020B0604020202020204" pitchFamily="34" charset="0"/>
                <a:cs typeface="Arial" panose="020B0604020202020204" pitchFamily="34" charset="0"/>
              </a:rPr>
              <a:t>3.5 Summary of Literature Review</a:t>
            </a:r>
            <a:br>
              <a:rPr lang="en-US" altLang="en-US" sz="3100" dirty="0">
                <a:solidFill>
                  <a:srgbClr val="1565C0"/>
                </a:solidFill>
                <a:latin typeface="Arial" panose="020B0604020202020204" pitchFamily="34" charset="0"/>
                <a:cs typeface="Arial" panose="020B0604020202020204" pitchFamily="34" charset="0"/>
              </a:rPr>
            </a:br>
            <a:r>
              <a:rPr lang="en-US" altLang="en-US" sz="3100" dirty="0">
                <a:ea typeface="Arial" panose="020B0604020202020204" pitchFamily="34" charset="0"/>
              </a:rPr>
              <a:t>Table 4: Summary of Literature Review</a:t>
            </a:r>
            <a:br>
              <a:rPr lang="en-US" altLang="en-US" dirty="0">
                <a:latin typeface="Arial" panose="020B0604020202020204" pitchFamily="34" charset="0"/>
              </a:rPr>
            </a:br>
            <a:endParaRPr lang="en-IN" dirty="0"/>
          </a:p>
        </p:txBody>
      </p:sp>
      <p:graphicFrame>
        <p:nvGraphicFramePr>
          <p:cNvPr id="7" name="Content Placeholder 6">
            <a:extLst>
              <a:ext uri="{FF2B5EF4-FFF2-40B4-BE49-F238E27FC236}">
                <a16:creationId xmlns:a16="http://schemas.microsoft.com/office/drawing/2014/main" id="{CA48488E-9FC3-42C1-15D4-895EC5B823C1}"/>
              </a:ext>
            </a:extLst>
          </p:cNvPr>
          <p:cNvGraphicFramePr>
            <a:graphicFrameLocks noGrp="1"/>
          </p:cNvGraphicFramePr>
          <p:nvPr>
            <p:ph idx="1"/>
            <p:extLst>
              <p:ext uri="{D42A27DB-BD31-4B8C-83A1-F6EECF244321}">
                <p14:modId xmlns:p14="http://schemas.microsoft.com/office/powerpoint/2010/main" val="144923387"/>
              </p:ext>
            </p:extLst>
          </p:nvPr>
        </p:nvGraphicFramePr>
        <p:xfrm>
          <a:off x="637032" y="1344168"/>
          <a:ext cx="10515600" cy="5251639"/>
        </p:xfrm>
        <a:graphic>
          <a:graphicData uri="http://schemas.openxmlformats.org/drawingml/2006/table">
            <a:tbl>
              <a:tblPr firstRow="1" firstCol="1" bandRow="1">
                <a:tableStyleId>{5C22544A-7EE6-4342-B048-85BDC9FD1C3A}</a:tableStyleId>
              </a:tblPr>
              <a:tblGrid>
                <a:gridCol w="2334768">
                  <a:extLst>
                    <a:ext uri="{9D8B030D-6E8A-4147-A177-3AD203B41FA5}">
                      <a16:colId xmlns:a16="http://schemas.microsoft.com/office/drawing/2014/main" val="3885899121"/>
                    </a:ext>
                  </a:extLst>
                </a:gridCol>
                <a:gridCol w="2383770">
                  <a:extLst>
                    <a:ext uri="{9D8B030D-6E8A-4147-A177-3AD203B41FA5}">
                      <a16:colId xmlns:a16="http://schemas.microsoft.com/office/drawing/2014/main" val="271945912"/>
                    </a:ext>
                  </a:extLst>
                </a:gridCol>
                <a:gridCol w="2898531">
                  <a:extLst>
                    <a:ext uri="{9D8B030D-6E8A-4147-A177-3AD203B41FA5}">
                      <a16:colId xmlns:a16="http://schemas.microsoft.com/office/drawing/2014/main" val="346199197"/>
                    </a:ext>
                  </a:extLst>
                </a:gridCol>
                <a:gridCol w="2898531">
                  <a:extLst>
                    <a:ext uri="{9D8B030D-6E8A-4147-A177-3AD203B41FA5}">
                      <a16:colId xmlns:a16="http://schemas.microsoft.com/office/drawing/2014/main" val="3140579055"/>
                    </a:ext>
                  </a:extLst>
                </a:gridCol>
              </a:tblGrid>
              <a:tr h="273239">
                <a:tc>
                  <a:txBody>
                    <a:bodyPr/>
                    <a:lstStyle/>
                    <a:p>
                      <a:pPr>
                        <a:buNone/>
                      </a:pPr>
                      <a:r>
                        <a:rPr lang="en-IN" sz="1000">
                          <a:effectLst/>
                        </a:rPr>
                        <a:t>Author(s) &amp; Year</a:t>
                      </a:r>
                      <a:endParaRPr lang="en-IN" sz="110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000">
                          <a:effectLst/>
                        </a:rPr>
                        <a:t>Method Used</a:t>
                      </a:r>
                      <a:endParaRPr lang="en-IN" sz="110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000">
                          <a:effectLst/>
                        </a:rPr>
                        <a:t>Result</a:t>
                      </a:r>
                      <a:endParaRPr lang="en-IN" sz="110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000">
                          <a:effectLst/>
                        </a:rPr>
                        <a:t>Relevance</a:t>
                      </a:r>
                      <a:endParaRPr lang="en-IN" sz="110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4029285010"/>
                  </a:ext>
                </a:extLst>
              </a:tr>
              <a:tr h="706946">
                <a:tc>
                  <a:txBody>
                    <a:bodyPr/>
                    <a:lstStyle/>
                    <a:p>
                      <a:pPr>
                        <a:buNone/>
                      </a:pPr>
                      <a:r>
                        <a:rPr lang="en-IN" sz="1800" dirty="0" err="1">
                          <a:effectLst/>
                        </a:rPr>
                        <a:t>Breiman</a:t>
                      </a:r>
                      <a:r>
                        <a:rPr lang="en-IN" sz="1800" dirty="0">
                          <a:effectLst/>
                        </a:rPr>
                        <a:t> (2001)</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800" dirty="0">
                          <a:effectLst/>
                        </a:rPr>
                        <a:t>Random Forest</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High generalization</a:t>
                      </a:r>
                      <a:endParaRPr lang="en-IN" sz="20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Foundation of RF used in this project</a:t>
                      </a:r>
                      <a:endParaRPr lang="en-IN" sz="2000" dirty="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2257519560"/>
                  </a:ext>
                </a:extLst>
              </a:tr>
              <a:tr h="706946">
                <a:tc>
                  <a:txBody>
                    <a:bodyPr/>
                    <a:lstStyle/>
                    <a:p>
                      <a:pPr>
                        <a:buNone/>
                      </a:pPr>
                      <a:r>
                        <a:rPr lang="en-IN" sz="1800" dirty="0">
                          <a:effectLst/>
                        </a:rPr>
                        <a:t>Mishra &amp; Desai (2006)</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800" dirty="0">
                          <a:effectLst/>
                        </a:rPr>
                        <a:t>SVM Regression</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Low MAE</a:t>
                      </a:r>
                      <a:endParaRPr lang="en-IN" sz="20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Non-linear rainfall modelling</a:t>
                      </a:r>
                      <a:endParaRPr lang="en-IN" sz="2000" dirty="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3852188131"/>
                  </a:ext>
                </a:extLst>
              </a:tr>
              <a:tr h="706946">
                <a:tc>
                  <a:txBody>
                    <a:bodyPr/>
                    <a:lstStyle/>
                    <a:p>
                      <a:pPr>
                        <a:buNone/>
                      </a:pPr>
                      <a:r>
                        <a:rPr lang="en-IN" sz="1800" dirty="0">
                          <a:effectLst/>
                        </a:rPr>
                        <a:t>Chattopadhyay (2010)</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800" dirty="0">
                          <a:effectLst/>
                        </a:rPr>
                        <a:t>Linear Regression</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Moderate R²</a:t>
                      </a:r>
                      <a:endParaRPr lang="en-IN" sz="20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Baseline regression benchmarking</a:t>
                      </a:r>
                      <a:endParaRPr lang="en-IN" sz="2000" dirty="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3808953766"/>
                  </a:ext>
                </a:extLst>
              </a:tr>
              <a:tr h="706946">
                <a:tc>
                  <a:txBody>
                    <a:bodyPr/>
                    <a:lstStyle/>
                    <a:p>
                      <a:pPr>
                        <a:buNone/>
                      </a:pPr>
                      <a:r>
                        <a:rPr lang="en-IN" sz="1800" dirty="0">
                          <a:effectLst/>
                        </a:rPr>
                        <a:t>Nayak et al. (2013)</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800" dirty="0">
                          <a:effectLst/>
                        </a:rPr>
                        <a:t>LR vs ANN</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LR stable for n&lt;60</a:t>
                      </a:r>
                      <a:endParaRPr lang="en-IN" sz="20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Validates LR for small datasets</a:t>
                      </a:r>
                      <a:endParaRPr lang="en-IN" sz="2000" dirty="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3266460364"/>
                  </a:ext>
                </a:extLst>
              </a:tr>
              <a:tr h="706946">
                <a:tc>
                  <a:txBody>
                    <a:bodyPr/>
                    <a:lstStyle/>
                    <a:p>
                      <a:pPr>
                        <a:buNone/>
                      </a:pPr>
                      <a:r>
                        <a:rPr lang="en-IN" sz="1800" dirty="0">
                          <a:effectLst/>
                        </a:rPr>
                        <a:t>Rodriguez-Galiano et al. (2014)</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800" dirty="0">
                          <a:effectLst/>
                        </a:rPr>
                        <a:t>Random Forest</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R²&gt;0.80</a:t>
                      </a:r>
                      <a:endParaRPr lang="en-IN" sz="20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RF for precipitation analysis</a:t>
                      </a:r>
                      <a:endParaRPr lang="en-IN" sz="2000" dirty="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3239525118"/>
                  </a:ext>
                </a:extLst>
              </a:tr>
              <a:tr h="706946">
                <a:tc>
                  <a:txBody>
                    <a:bodyPr/>
                    <a:lstStyle/>
                    <a:p>
                      <a:pPr>
                        <a:buNone/>
                      </a:pPr>
                      <a:r>
                        <a:rPr lang="en-IN" sz="1800" dirty="0">
                          <a:effectLst/>
                        </a:rPr>
                        <a:t>Feng et al. (2019)</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800" dirty="0">
                          <a:effectLst/>
                        </a:rPr>
                        <a:t>Random Forest</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R²&gt;0.85</a:t>
                      </a:r>
                      <a:endParaRPr lang="en-IN" sz="20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Seasonal rainfall, small samples</a:t>
                      </a:r>
                      <a:endParaRPr lang="en-IN" sz="2000" dirty="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2103664099"/>
                  </a:ext>
                </a:extLst>
              </a:tr>
              <a:tr h="706946">
                <a:tc>
                  <a:txBody>
                    <a:bodyPr/>
                    <a:lstStyle/>
                    <a:p>
                      <a:pPr>
                        <a:buNone/>
                      </a:pPr>
                      <a:r>
                        <a:rPr lang="en-IN" sz="1800" dirty="0">
                          <a:effectLst/>
                        </a:rPr>
                        <a:t>Rasp et al. (2018)</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1800" dirty="0">
                          <a:effectLst/>
                        </a:rPr>
                        <a:t>Deep Learning</a:t>
                      </a:r>
                      <a:endParaRPr lang="en-IN" sz="18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Outperforms NWP</a:t>
                      </a:r>
                      <a:endParaRPr lang="en-IN" sz="2000" dirty="0">
                        <a:effectLst/>
                        <a:latin typeface="Arial" panose="020B0604020202020204" pitchFamily="34" charset="0"/>
                        <a:ea typeface="Arial" panose="020B0604020202020204" pitchFamily="34" charset="0"/>
                      </a:endParaRPr>
                    </a:p>
                  </a:txBody>
                  <a:tcPr marL="82550" marR="82550" marT="50800" marB="50800"/>
                </a:tc>
                <a:tc>
                  <a:txBody>
                    <a:bodyPr/>
                    <a:lstStyle/>
                    <a:p>
                      <a:pPr>
                        <a:buNone/>
                      </a:pPr>
                      <a:r>
                        <a:rPr lang="en-IN" sz="2000" dirty="0">
                          <a:effectLst/>
                        </a:rPr>
                        <a:t>Establishes ML in meteorology</a:t>
                      </a:r>
                      <a:endParaRPr lang="en-IN" sz="2000" dirty="0">
                        <a:effectLst/>
                        <a:latin typeface="Arial" panose="020B0604020202020204" pitchFamily="34" charset="0"/>
                        <a:ea typeface="Arial" panose="020B0604020202020204" pitchFamily="34" charset="0"/>
                      </a:endParaRPr>
                    </a:p>
                  </a:txBody>
                  <a:tcPr marL="82550" marR="82550" marT="50800" marB="50800"/>
                </a:tc>
                <a:extLst>
                  <a:ext uri="{0D108BD9-81ED-4DB2-BD59-A6C34878D82A}">
                    <a16:rowId xmlns:a16="http://schemas.microsoft.com/office/drawing/2014/main" val="3632779151"/>
                  </a:ext>
                </a:extLst>
              </a:tr>
            </a:tbl>
          </a:graphicData>
        </a:graphic>
      </p:graphicFrame>
    </p:spTree>
    <p:extLst>
      <p:ext uri="{BB962C8B-B14F-4D97-AF65-F5344CB8AC3E}">
        <p14:creationId xmlns:p14="http://schemas.microsoft.com/office/powerpoint/2010/main" val="1803274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05121-F97F-AF46-002F-0D26DA44197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 of the Project</a:t>
            </a:r>
          </a:p>
        </p:txBody>
      </p:sp>
      <p:sp>
        <p:nvSpPr>
          <p:cNvPr id="3" name="Content Placeholder 2">
            <a:extLst>
              <a:ext uri="{FF2B5EF4-FFF2-40B4-BE49-F238E27FC236}">
                <a16:creationId xmlns:a16="http://schemas.microsoft.com/office/drawing/2014/main" id="{9EE08854-5D5C-AE73-4312-FD562407ABF0}"/>
              </a:ext>
            </a:extLst>
          </p:cNvPr>
          <p:cNvSpPr>
            <a:spLocks noGrp="1"/>
          </p:cNvSpPr>
          <p:nvPr>
            <p:ph idx="1"/>
          </p:nvPr>
        </p:nvSpPr>
        <p:spPr/>
        <p:txBody>
          <a:bodyPr>
            <a:normAutofit lnSpcReduction="10000"/>
          </a:bodyPr>
          <a:lstStyle/>
          <a:p>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historical monthly rainfall patterns (2022–2025) using exploratory data analysis.</a:t>
            </a:r>
          </a:p>
          <a:p>
            <a:r>
              <a:rPr lang="en-US" dirty="0">
                <a:latin typeface="Times New Roman" panose="02020603050405020304" pitchFamily="18" charset="0"/>
                <a:cs typeface="Times New Roman" panose="02020603050405020304" pitchFamily="18" charset="0"/>
              </a:rPr>
              <a:t>Preprocess and engineer features: year, month index, seasonal encoding, rainfall class.</a:t>
            </a:r>
          </a:p>
          <a:p>
            <a:r>
              <a:rPr lang="en-US" dirty="0">
                <a:latin typeface="Times New Roman" panose="02020603050405020304" pitchFamily="18" charset="0"/>
                <a:cs typeface="Times New Roman" panose="02020603050405020304" pitchFamily="18" charset="0"/>
              </a:rPr>
              <a:t>Implement and train Random Forest Classifier, Decision Tree Classifier, and Linear Regression.</a:t>
            </a:r>
          </a:p>
          <a:p>
            <a:r>
              <a:rPr lang="en-US" dirty="0">
                <a:latin typeface="Times New Roman" panose="02020603050405020304" pitchFamily="18" charset="0"/>
                <a:cs typeface="Times New Roman" panose="02020603050405020304" pitchFamily="18" charset="0"/>
              </a:rPr>
              <a:t>Evaluate models using Accuracy, MAE, RMSE, and R² score and identify the best algorithm.</a:t>
            </a:r>
          </a:p>
          <a:p>
            <a:r>
              <a:rPr lang="en-US" dirty="0">
                <a:latin typeface="Times New Roman" panose="02020603050405020304" pitchFamily="18" charset="0"/>
                <a:cs typeface="Times New Roman" panose="02020603050405020304" pitchFamily="18" charset="0"/>
              </a:rPr>
              <a:t>Provide actionable insights for agricultural planning and water resource management.</a:t>
            </a:r>
          </a:p>
        </p:txBody>
      </p:sp>
    </p:spTree>
    <p:extLst>
      <p:ext uri="{BB962C8B-B14F-4D97-AF65-F5344CB8AC3E}">
        <p14:creationId xmlns:p14="http://schemas.microsoft.com/office/powerpoint/2010/main" val="3420363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A1F4F-43D4-2E26-3009-0B8E3B9E7F11}"/>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C7103DC1-9251-3699-0C0C-F89964C67627}"/>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Source: Manually recorded field observation registers (handwritten rainfall logs).</a:t>
            </a:r>
          </a:p>
          <a:p>
            <a:r>
              <a:rPr lang="en-US" dirty="0">
                <a:latin typeface="Times New Roman" panose="02020603050405020304" pitchFamily="18" charset="0"/>
                <a:cs typeface="Times New Roman" panose="02020603050405020304" pitchFamily="18" charset="0"/>
              </a:rPr>
              <a:t>48 monthly observations — 12 months x 4 years (2022–2025), values in </a:t>
            </a:r>
            <a:r>
              <a:rPr lang="en-US" dirty="0" err="1">
                <a:latin typeface="Times New Roman" panose="02020603050405020304" pitchFamily="18" charset="0"/>
                <a:cs typeface="Times New Roman" panose="02020603050405020304" pitchFamily="18" charset="0"/>
              </a:rPr>
              <a:t>millimetres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Features: Year, Month Index (1–12), Season (Dry / Pre-monsoon / Monsoon / Post-monsoon).</a:t>
            </a:r>
          </a:p>
          <a:p>
            <a:r>
              <a:rPr lang="en-US" dirty="0">
                <a:latin typeface="Times New Roman" panose="02020603050405020304" pitchFamily="18" charset="0"/>
                <a:cs typeface="Times New Roman" panose="02020603050405020304" pitchFamily="18" charset="0"/>
              </a:rPr>
              <a:t>Target: Rainfall Class — Low (&lt;50 mm), Moderate (50–200), High (200–400), Very High (&gt;400 mm).</a:t>
            </a:r>
          </a:p>
          <a:p>
            <a:r>
              <a:rPr lang="en-US" dirty="0">
                <a:latin typeface="Times New Roman" panose="02020603050405020304" pitchFamily="18" charset="0"/>
                <a:cs typeface="Times New Roman" panose="02020603050405020304" pitchFamily="18" charset="0"/>
              </a:rPr>
              <a:t>Split: 75% train (36 samples) / 25% test (12 samples); </a:t>
            </a:r>
            <a:r>
              <a:rPr lang="en-US" dirty="0" err="1">
                <a:latin typeface="Times New Roman" panose="02020603050405020304" pitchFamily="18" charset="0"/>
                <a:cs typeface="Times New Roman" panose="02020603050405020304" pitchFamily="18" charset="0"/>
              </a:rPr>
              <a:t>StandardScaler</a:t>
            </a:r>
            <a:r>
              <a:rPr lang="en-US" dirty="0">
                <a:latin typeface="Times New Roman" panose="02020603050405020304" pitchFamily="18" charset="0"/>
                <a:cs typeface="Times New Roman" panose="02020603050405020304" pitchFamily="18" charset="0"/>
              </a:rPr>
              <a:t> applied for regression.</a:t>
            </a:r>
          </a:p>
        </p:txBody>
      </p:sp>
    </p:spTree>
    <p:extLst>
      <p:ext uri="{BB962C8B-B14F-4D97-AF65-F5344CB8AC3E}">
        <p14:creationId xmlns:p14="http://schemas.microsoft.com/office/powerpoint/2010/main" val="3420363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D740-F2E2-BDCA-2DA5-50932A00CD48}"/>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Dataset</a:t>
            </a:r>
          </a:p>
        </p:txBody>
      </p:sp>
      <p:graphicFrame>
        <p:nvGraphicFramePr>
          <p:cNvPr id="4" name="Content Placeholder 3">
            <a:extLst>
              <a:ext uri="{FF2B5EF4-FFF2-40B4-BE49-F238E27FC236}">
                <a16:creationId xmlns:a16="http://schemas.microsoft.com/office/drawing/2014/main" id="{C7103DC1-9251-3699-0C0C-F89964C67627}"/>
              </a:ext>
            </a:extLst>
          </p:cNvPr>
          <p:cNvGraphicFramePr>
            <a:graphicFrameLocks noGrp="1"/>
          </p:cNvGraphicFramePr>
          <p:nvPr>
            <p:ph idx="1"/>
            <p:extLst>
              <p:ext uri="{D42A27DB-BD31-4B8C-83A1-F6EECF244321}">
                <p14:modId xmlns:p14="http://schemas.microsoft.com/office/powerpoint/2010/main" val="495444550"/>
              </p:ext>
            </p:extLst>
          </p:nvPr>
        </p:nvGraphicFramePr>
        <p:xfrm>
          <a:off x="838200" y="1825624"/>
          <a:ext cx="10515600" cy="4500000"/>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500000">
                <a:tc>
                  <a:txBody>
                    <a:bodyPr/>
                    <a:lstStyle/>
                    <a:p>
                      <a:pPr algn="ctr"/>
                      <a:r>
                        <a:rPr lang="en-IN" sz="1600" b="1">
                          <a:latin typeface="Times New Roman" panose="02020603050405020304" pitchFamily="18" charset="0"/>
                          <a:cs typeface="Times New Roman" panose="02020603050405020304" pitchFamily="18" charset="0"/>
                        </a:rPr>
                        <a:t>Month</a:t>
                      </a:r>
                    </a:p>
                  </a:txBody>
                  <a:tcPr anchor="ctr"/>
                </a:tc>
                <a:tc>
                  <a:txBody>
                    <a:bodyPr/>
                    <a:lstStyle/>
                    <a:p>
                      <a:pPr algn="ctr"/>
                      <a:r>
                        <a:rPr lang="en-IN" sz="1600" b="1" dirty="0">
                          <a:latin typeface="Times New Roman" panose="02020603050405020304" pitchFamily="18" charset="0"/>
                          <a:cs typeface="Times New Roman" panose="02020603050405020304" pitchFamily="18" charset="0"/>
                        </a:rPr>
                        <a:t>2022 (mm)</a:t>
                      </a:r>
                    </a:p>
                  </a:txBody>
                  <a:tcPr anchor="ctr"/>
                </a:tc>
                <a:tc>
                  <a:txBody>
                    <a:bodyPr/>
                    <a:lstStyle/>
                    <a:p>
                      <a:pPr algn="ctr"/>
                      <a:r>
                        <a:rPr lang="en-IN" sz="1600" b="1" dirty="0">
                          <a:latin typeface="Times New Roman" panose="02020603050405020304" pitchFamily="18" charset="0"/>
                          <a:cs typeface="Times New Roman" panose="02020603050405020304" pitchFamily="18" charset="0"/>
                        </a:rPr>
                        <a:t>2023 (mm)</a:t>
                      </a:r>
                    </a:p>
                  </a:txBody>
                  <a:tcPr anchor="ctr"/>
                </a:tc>
                <a:tc>
                  <a:txBody>
                    <a:bodyPr/>
                    <a:lstStyle/>
                    <a:p>
                      <a:pPr algn="ctr"/>
                      <a:r>
                        <a:rPr lang="en-IN" sz="1600" b="1" dirty="0">
                          <a:latin typeface="Times New Roman" panose="02020603050405020304" pitchFamily="18" charset="0"/>
                          <a:cs typeface="Times New Roman" panose="02020603050405020304" pitchFamily="18" charset="0"/>
                        </a:rPr>
                        <a:t>2024 (mm)</a:t>
                      </a:r>
                    </a:p>
                  </a:txBody>
                  <a:tcPr anchor="ctr"/>
                </a:tc>
                <a:tc>
                  <a:txBody>
                    <a:bodyPr/>
                    <a:lstStyle/>
                    <a:p>
                      <a:pPr algn="ctr"/>
                      <a:r>
                        <a:rPr lang="en-IN" sz="1600" b="1" dirty="0">
                          <a:latin typeface="Times New Roman" panose="02020603050405020304" pitchFamily="18" charset="0"/>
                          <a:cs typeface="Times New Roman" panose="02020603050405020304" pitchFamily="18" charset="0"/>
                        </a:rPr>
                        <a:t>2025 (mm)</a:t>
                      </a:r>
                    </a:p>
                  </a:txBody>
                  <a:tcPr anchor="ctr"/>
                </a:tc>
                <a:extLst>
                  <a:ext uri="{0D108BD9-81ED-4DB2-BD59-A6C34878D82A}">
                    <a16:rowId xmlns:a16="http://schemas.microsoft.com/office/drawing/2014/main" val="3783493616"/>
                  </a:ext>
                </a:extLst>
              </a:tr>
              <a:tr h="500000">
                <a:tc>
                  <a:txBody>
                    <a:bodyPr/>
                    <a:lstStyle/>
                    <a:p>
                      <a:pPr algn="ctr"/>
                      <a:r>
                        <a:rPr lang="en-IN" sz="1600" b="1">
                          <a:latin typeface="Times New Roman" panose="02020603050405020304" pitchFamily="18" charset="0"/>
                          <a:cs typeface="Times New Roman" panose="02020603050405020304" pitchFamily="18" charset="0"/>
                        </a:rPr>
                        <a:t>Jan</a:t>
                      </a:r>
                    </a:p>
                  </a:txBody>
                  <a:tcPr anchor="ctr"/>
                </a:tc>
                <a:tc>
                  <a:txBody>
                    <a:bodyPr/>
                    <a:lstStyle/>
                    <a:p>
                      <a:pPr algn="ctr"/>
                      <a:r>
                        <a:rPr lang="en-IN" sz="1600">
                          <a:latin typeface="Times New Roman" panose="02020603050405020304" pitchFamily="18" charset="0"/>
                          <a:cs typeface="Times New Roman" panose="02020603050405020304" pitchFamily="18" charset="0"/>
                        </a:rPr>
                        <a:t>0.6</a:t>
                      </a:r>
                    </a:p>
                  </a:txBody>
                  <a:tcPr anchor="ctr"/>
                </a:tc>
                <a:tc>
                  <a:txBody>
                    <a:bodyPr/>
                    <a:lstStyle/>
                    <a:p>
                      <a:pPr algn="ctr"/>
                      <a:r>
                        <a:rPr lang="en-IN" sz="1600">
                          <a:latin typeface="Times New Roman" panose="02020603050405020304" pitchFamily="18" charset="0"/>
                          <a:cs typeface="Times New Roman" panose="02020603050405020304" pitchFamily="18" charset="0"/>
                        </a:rPr>
                        <a:t>0</a:t>
                      </a:r>
                    </a:p>
                  </a:txBody>
                  <a:tcPr anchor="ctr"/>
                </a:tc>
                <a:tc>
                  <a:txBody>
                    <a:bodyPr/>
                    <a:lstStyle/>
                    <a:p>
                      <a:pPr algn="ctr"/>
                      <a:r>
                        <a:rPr lang="en-IN" sz="1600">
                          <a:latin typeface="Times New Roman" panose="02020603050405020304" pitchFamily="18" charset="0"/>
                          <a:cs typeface="Times New Roman" panose="02020603050405020304" pitchFamily="18" charset="0"/>
                        </a:rPr>
                        <a:t>0</a:t>
                      </a:r>
                    </a:p>
                  </a:txBody>
                  <a:tcPr anchor="ctr"/>
                </a:tc>
                <a:tc>
                  <a:txBody>
                    <a:bodyPr/>
                    <a:lstStyle/>
                    <a:p>
                      <a:pPr algn="ctr"/>
                      <a:r>
                        <a:rPr lang="en-IN" sz="1600">
                          <a:latin typeface="Times New Roman" panose="02020603050405020304" pitchFamily="18" charset="0"/>
                          <a:cs typeface="Times New Roman" panose="02020603050405020304" pitchFamily="18" charset="0"/>
                        </a:rPr>
                        <a:t>3.1</a:t>
                      </a:r>
                    </a:p>
                  </a:txBody>
                  <a:tcPr anchor="ctr"/>
                </a:tc>
                <a:extLst>
                  <a:ext uri="{0D108BD9-81ED-4DB2-BD59-A6C34878D82A}">
                    <a16:rowId xmlns:a16="http://schemas.microsoft.com/office/drawing/2014/main" val="2578140237"/>
                  </a:ext>
                </a:extLst>
              </a:tr>
              <a:tr h="500000">
                <a:tc>
                  <a:txBody>
                    <a:bodyPr/>
                    <a:lstStyle/>
                    <a:p>
                      <a:pPr algn="ctr"/>
                      <a:r>
                        <a:rPr lang="en-IN" sz="1600" b="1">
                          <a:latin typeface="Times New Roman" panose="02020603050405020304" pitchFamily="18" charset="0"/>
                          <a:cs typeface="Times New Roman" panose="02020603050405020304" pitchFamily="18" charset="0"/>
                        </a:rPr>
                        <a:t>May</a:t>
                      </a:r>
                    </a:p>
                  </a:txBody>
                  <a:tcPr anchor="ctr"/>
                </a:tc>
                <a:tc>
                  <a:txBody>
                    <a:bodyPr/>
                    <a:lstStyle/>
                    <a:p>
                      <a:pPr algn="ctr"/>
                      <a:r>
                        <a:rPr lang="en-IN" sz="1600">
                          <a:latin typeface="Times New Roman" panose="02020603050405020304" pitchFamily="18" charset="0"/>
                          <a:cs typeface="Times New Roman" panose="02020603050405020304" pitchFamily="18" charset="0"/>
                        </a:rPr>
                        <a:t>285.2</a:t>
                      </a:r>
                    </a:p>
                  </a:txBody>
                  <a:tcPr anchor="ctr"/>
                </a:tc>
                <a:tc>
                  <a:txBody>
                    <a:bodyPr/>
                    <a:lstStyle/>
                    <a:p>
                      <a:pPr algn="ctr"/>
                      <a:r>
                        <a:rPr lang="en-IN" sz="1600">
                          <a:latin typeface="Times New Roman" panose="02020603050405020304" pitchFamily="18" charset="0"/>
                          <a:cs typeface="Times New Roman" panose="02020603050405020304" pitchFamily="18" charset="0"/>
                        </a:rPr>
                        <a:t>154.8</a:t>
                      </a:r>
                    </a:p>
                  </a:txBody>
                  <a:tcPr anchor="ctr"/>
                </a:tc>
                <a:tc>
                  <a:txBody>
                    <a:bodyPr/>
                    <a:lstStyle/>
                    <a:p>
                      <a:pPr algn="ctr"/>
                      <a:r>
                        <a:rPr lang="en-IN" sz="1600">
                          <a:latin typeface="Times New Roman" panose="02020603050405020304" pitchFamily="18" charset="0"/>
                          <a:cs typeface="Times New Roman" panose="02020603050405020304" pitchFamily="18" charset="0"/>
                        </a:rPr>
                        <a:t>198.8</a:t>
                      </a:r>
                    </a:p>
                  </a:txBody>
                  <a:tcPr anchor="ctr"/>
                </a:tc>
                <a:tc>
                  <a:txBody>
                    <a:bodyPr/>
                    <a:lstStyle/>
                    <a:p>
                      <a:pPr algn="ctr"/>
                      <a:r>
                        <a:rPr lang="en-IN" sz="1600">
                          <a:latin typeface="Times New Roman" panose="02020603050405020304" pitchFamily="18" charset="0"/>
                          <a:cs typeface="Times New Roman" panose="02020603050405020304" pitchFamily="18" charset="0"/>
                        </a:rPr>
                        <a:t>325.2</a:t>
                      </a:r>
                    </a:p>
                  </a:txBody>
                  <a:tcPr anchor="ctr"/>
                </a:tc>
                <a:extLst>
                  <a:ext uri="{0D108BD9-81ED-4DB2-BD59-A6C34878D82A}">
                    <a16:rowId xmlns:a16="http://schemas.microsoft.com/office/drawing/2014/main" val="2578140238"/>
                  </a:ext>
                </a:extLst>
              </a:tr>
              <a:tr h="500000">
                <a:tc>
                  <a:txBody>
                    <a:bodyPr/>
                    <a:lstStyle/>
                    <a:p>
                      <a:pPr algn="ctr"/>
                      <a:r>
                        <a:rPr lang="en-IN" sz="1600" b="1">
                          <a:latin typeface="Times New Roman" panose="02020603050405020304" pitchFamily="18" charset="0"/>
                          <a:cs typeface="Times New Roman" panose="02020603050405020304" pitchFamily="18" charset="0"/>
                        </a:rPr>
                        <a:t>Jun</a:t>
                      </a:r>
                    </a:p>
                  </a:txBody>
                  <a:tcPr anchor="ctr"/>
                </a:tc>
                <a:tc>
                  <a:txBody>
                    <a:bodyPr/>
                    <a:lstStyle/>
                    <a:p>
                      <a:pPr algn="ctr"/>
                      <a:r>
                        <a:rPr lang="en-IN" sz="1600">
                          <a:latin typeface="Times New Roman" panose="02020603050405020304" pitchFamily="18" charset="0"/>
                          <a:cs typeface="Times New Roman" panose="02020603050405020304" pitchFamily="18" charset="0"/>
                        </a:rPr>
                        <a:t>117.6</a:t>
                      </a:r>
                    </a:p>
                  </a:txBody>
                  <a:tcPr anchor="ctr"/>
                </a:tc>
                <a:tc>
                  <a:txBody>
                    <a:bodyPr/>
                    <a:lstStyle/>
                    <a:p>
                      <a:pPr algn="ctr"/>
                      <a:r>
                        <a:rPr lang="en-IN" sz="1600">
                          <a:latin typeface="Times New Roman" panose="02020603050405020304" pitchFamily="18" charset="0"/>
                          <a:cs typeface="Times New Roman" panose="02020603050405020304" pitchFamily="18" charset="0"/>
                        </a:rPr>
                        <a:t>67.0</a:t>
                      </a:r>
                    </a:p>
                  </a:txBody>
                  <a:tcPr anchor="ctr"/>
                </a:tc>
                <a:tc>
                  <a:txBody>
                    <a:bodyPr/>
                    <a:lstStyle/>
                    <a:p>
                      <a:pPr algn="ctr"/>
                      <a:r>
                        <a:rPr lang="en-IN" sz="1600">
                          <a:latin typeface="Times New Roman" panose="02020603050405020304" pitchFamily="18" charset="0"/>
                          <a:cs typeface="Times New Roman" panose="02020603050405020304" pitchFamily="18" charset="0"/>
                        </a:rPr>
                        <a:t>130.4</a:t>
                      </a:r>
                    </a:p>
                  </a:txBody>
                  <a:tcPr anchor="ctr"/>
                </a:tc>
                <a:tc>
                  <a:txBody>
                    <a:bodyPr/>
                    <a:lstStyle/>
                    <a:p>
                      <a:pPr algn="ctr"/>
                      <a:r>
                        <a:rPr lang="en-IN" sz="1600">
                          <a:latin typeface="Times New Roman" panose="02020603050405020304" pitchFamily="18" charset="0"/>
                          <a:cs typeface="Times New Roman" panose="02020603050405020304" pitchFamily="18" charset="0"/>
                        </a:rPr>
                        <a:t>46.2</a:t>
                      </a:r>
                    </a:p>
                  </a:txBody>
                  <a:tcPr anchor="ctr"/>
                </a:tc>
                <a:extLst>
                  <a:ext uri="{0D108BD9-81ED-4DB2-BD59-A6C34878D82A}">
                    <a16:rowId xmlns:a16="http://schemas.microsoft.com/office/drawing/2014/main" val="2578140239"/>
                  </a:ext>
                </a:extLst>
              </a:tr>
              <a:tr h="500000">
                <a:tc>
                  <a:txBody>
                    <a:bodyPr/>
                    <a:lstStyle/>
                    <a:p>
                      <a:pPr algn="ctr"/>
                      <a:r>
                        <a:rPr lang="en-IN" sz="1600" b="1">
                          <a:latin typeface="Times New Roman" panose="02020603050405020304" pitchFamily="18" charset="0"/>
                          <a:cs typeface="Times New Roman" panose="02020603050405020304" pitchFamily="18" charset="0"/>
                        </a:rPr>
                        <a:t>Jul</a:t>
                      </a:r>
                    </a:p>
                  </a:txBody>
                  <a:tcPr anchor="ctr"/>
                </a:tc>
                <a:tc>
                  <a:txBody>
                    <a:bodyPr/>
                    <a:lstStyle/>
                    <a:p>
                      <a:pPr algn="ctr"/>
                      <a:r>
                        <a:rPr lang="en-IN" sz="1600">
                          <a:latin typeface="Times New Roman" panose="02020603050405020304" pitchFamily="18" charset="0"/>
                          <a:cs typeface="Times New Roman" panose="02020603050405020304" pitchFamily="18" charset="0"/>
                        </a:rPr>
                        <a:t>149.8</a:t>
                      </a:r>
                    </a:p>
                  </a:txBody>
                  <a:tcPr anchor="ctr"/>
                </a:tc>
                <a:tc>
                  <a:txBody>
                    <a:bodyPr/>
                    <a:lstStyle/>
                    <a:p>
                      <a:pPr algn="ctr"/>
                      <a:r>
                        <a:rPr lang="en-IN" sz="1600">
                          <a:latin typeface="Times New Roman" panose="02020603050405020304" pitchFamily="18" charset="0"/>
                          <a:cs typeface="Times New Roman" panose="02020603050405020304" pitchFamily="18" charset="0"/>
                        </a:rPr>
                        <a:t>115.2</a:t>
                      </a:r>
                    </a:p>
                  </a:txBody>
                  <a:tcPr anchor="ctr"/>
                </a:tc>
                <a:tc>
                  <a:txBody>
                    <a:bodyPr/>
                    <a:lstStyle/>
                    <a:p>
                      <a:pPr algn="ctr"/>
                      <a:r>
                        <a:rPr lang="en-IN" sz="1600">
                          <a:latin typeface="Times New Roman" panose="02020603050405020304" pitchFamily="18" charset="0"/>
                          <a:cs typeface="Times New Roman" panose="02020603050405020304" pitchFamily="18" charset="0"/>
                        </a:rPr>
                        <a:t>184.4</a:t>
                      </a:r>
                    </a:p>
                  </a:txBody>
                  <a:tcPr anchor="ctr"/>
                </a:tc>
                <a:tc>
                  <a:txBody>
                    <a:bodyPr/>
                    <a:lstStyle/>
                    <a:p>
                      <a:pPr algn="ctr"/>
                      <a:r>
                        <a:rPr lang="en-IN" sz="1600">
                          <a:latin typeface="Times New Roman" panose="02020603050405020304" pitchFamily="18" charset="0"/>
                          <a:cs typeface="Times New Roman" panose="02020603050405020304" pitchFamily="18" charset="0"/>
                        </a:rPr>
                        <a:t>104.8</a:t>
                      </a:r>
                    </a:p>
                  </a:txBody>
                  <a:tcPr anchor="ctr"/>
                </a:tc>
                <a:extLst>
                  <a:ext uri="{0D108BD9-81ED-4DB2-BD59-A6C34878D82A}">
                    <a16:rowId xmlns:a16="http://schemas.microsoft.com/office/drawing/2014/main" val="2578140240"/>
                  </a:ext>
                </a:extLst>
              </a:tr>
              <a:tr h="500000">
                <a:tc>
                  <a:txBody>
                    <a:bodyPr/>
                    <a:lstStyle/>
                    <a:p>
                      <a:pPr algn="ctr"/>
                      <a:r>
                        <a:rPr lang="en-IN" sz="1600" b="1">
                          <a:latin typeface="Times New Roman" panose="02020603050405020304" pitchFamily="18" charset="0"/>
                          <a:cs typeface="Times New Roman" panose="02020603050405020304" pitchFamily="18" charset="0"/>
                        </a:rPr>
                        <a:t>Aug</a:t>
                      </a:r>
                    </a:p>
                  </a:txBody>
                  <a:tcPr anchor="ctr"/>
                </a:tc>
                <a:tc>
                  <a:txBody>
                    <a:bodyPr/>
                    <a:lstStyle/>
                    <a:p>
                      <a:pPr algn="ctr"/>
                      <a:r>
                        <a:rPr lang="en-IN" sz="1600">
                          <a:latin typeface="Times New Roman" panose="02020603050405020304" pitchFamily="18" charset="0"/>
                          <a:cs typeface="Times New Roman" panose="02020603050405020304" pitchFamily="18" charset="0"/>
                        </a:rPr>
                        <a:t>211.4</a:t>
                      </a:r>
                    </a:p>
                  </a:txBody>
                  <a:tcPr anchor="ctr"/>
                </a:tc>
                <a:tc>
                  <a:txBody>
                    <a:bodyPr/>
                    <a:lstStyle/>
                    <a:p>
                      <a:pPr algn="ctr"/>
                      <a:r>
                        <a:rPr lang="en-IN" sz="1600">
                          <a:latin typeface="Times New Roman" panose="02020603050405020304" pitchFamily="18" charset="0"/>
                          <a:cs typeface="Times New Roman" panose="02020603050405020304" pitchFamily="18" charset="0"/>
                        </a:rPr>
                        <a:t>25.8</a:t>
                      </a:r>
                    </a:p>
                  </a:txBody>
                  <a:tcPr anchor="ctr"/>
                </a:tc>
                <a:tc>
                  <a:txBody>
                    <a:bodyPr/>
                    <a:lstStyle/>
                    <a:p>
                      <a:pPr algn="ctr"/>
                      <a:r>
                        <a:rPr lang="en-IN" sz="1600">
                          <a:latin typeface="Times New Roman" panose="02020603050405020304" pitchFamily="18" charset="0"/>
                          <a:cs typeface="Times New Roman" panose="02020603050405020304" pitchFamily="18" charset="0"/>
                        </a:rPr>
                        <a:t>261.2</a:t>
                      </a:r>
                    </a:p>
                  </a:txBody>
                  <a:tcPr anchor="ctr"/>
                </a:tc>
                <a:tc>
                  <a:txBody>
                    <a:bodyPr/>
                    <a:lstStyle/>
                    <a:p>
                      <a:pPr algn="ctr"/>
                      <a:r>
                        <a:rPr lang="en-IN" sz="1600">
                          <a:latin typeface="Times New Roman" panose="02020603050405020304" pitchFamily="18" charset="0"/>
                          <a:cs typeface="Times New Roman" panose="02020603050405020304" pitchFamily="18" charset="0"/>
                        </a:rPr>
                        <a:t>220.0</a:t>
                      </a:r>
                    </a:p>
                  </a:txBody>
                  <a:tcPr anchor="ctr"/>
                </a:tc>
                <a:extLst>
                  <a:ext uri="{0D108BD9-81ED-4DB2-BD59-A6C34878D82A}">
                    <a16:rowId xmlns:a16="http://schemas.microsoft.com/office/drawing/2014/main" val="2578140241"/>
                  </a:ext>
                </a:extLst>
              </a:tr>
              <a:tr h="500000">
                <a:tc>
                  <a:txBody>
                    <a:bodyPr/>
                    <a:lstStyle/>
                    <a:p>
                      <a:pPr algn="ctr"/>
                      <a:r>
                        <a:rPr lang="en-IN" sz="1600" b="1">
                          <a:latin typeface="Times New Roman" panose="02020603050405020304" pitchFamily="18" charset="0"/>
                          <a:cs typeface="Times New Roman" panose="02020603050405020304" pitchFamily="18" charset="0"/>
                        </a:rPr>
                        <a:t>Sep</a:t>
                      </a:r>
                    </a:p>
                  </a:txBody>
                  <a:tcPr anchor="ctr"/>
                </a:tc>
                <a:tc>
                  <a:txBody>
                    <a:bodyPr/>
                    <a:lstStyle/>
                    <a:p>
                      <a:pPr algn="ctr"/>
                      <a:r>
                        <a:rPr lang="en-IN" sz="1600">
                          <a:latin typeface="Times New Roman" panose="02020603050405020304" pitchFamily="18" charset="0"/>
                          <a:cs typeface="Times New Roman" panose="02020603050405020304" pitchFamily="18" charset="0"/>
                        </a:rPr>
                        <a:t>449.0</a:t>
                      </a:r>
                    </a:p>
                  </a:txBody>
                  <a:tcPr anchor="ctr"/>
                </a:tc>
                <a:tc>
                  <a:txBody>
                    <a:bodyPr/>
                    <a:lstStyle/>
                    <a:p>
                      <a:pPr algn="ctr"/>
                      <a:r>
                        <a:rPr lang="en-IN" sz="1600">
                          <a:latin typeface="Times New Roman" panose="02020603050405020304" pitchFamily="18" charset="0"/>
                          <a:cs typeface="Times New Roman" panose="02020603050405020304" pitchFamily="18" charset="0"/>
                        </a:rPr>
                        <a:t>194.0</a:t>
                      </a:r>
                    </a:p>
                  </a:txBody>
                  <a:tcPr anchor="ctr"/>
                </a:tc>
                <a:tc>
                  <a:txBody>
                    <a:bodyPr/>
                    <a:lstStyle/>
                    <a:p>
                      <a:pPr algn="ctr"/>
                      <a:r>
                        <a:rPr lang="en-IN" sz="1600">
                          <a:latin typeface="Times New Roman" panose="02020603050405020304" pitchFamily="18" charset="0"/>
                          <a:cs typeface="Times New Roman" panose="02020603050405020304" pitchFamily="18" charset="0"/>
                        </a:rPr>
                        <a:t>332.6</a:t>
                      </a:r>
                    </a:p>
                  </a:txBody>
                  <a:tcPr anchor="ctr"/>
                </a:tc>
                <a:tc>
                  <a:txBody>
                    <a:bodyPr/>
                    <a:lstStyle/>
                    <a:p>
                      <a:pPr algn="ctr"/>
                      <a:r>
                        <a:rPr lang="en-IN" sz="1600">
                          <a:latin typeface="Times New Roman" panose="02020603050405020304" pitchFamily="18" charset="0"/>
                          <a:cs typeface="Times New Roman" panose="02020603050405020304" pitchFamily="18" charset="0"/>
                        </a:rPr>
                        <a:t>138.4</a:t>
                      </a:r>
                    </a:p>
                  </a:txBody>
                  <a:tcPr anchor="ctr"/>
                </a:tc>
                <a:extLst>
                  <a:ext uri="{0D108BD9-81ED-4DB2-BD59-A6C34878D82A}">
                    <a16:rowId xmlns:a16="http://schemas.microsoft.com/office/drawing/2014/main" val="2578140242"/>
                  </a:ext>
                </a:extLst>
              </a:tr>
              <a:tr h="500000">
                <a:tc>
                  <a:txBody>
                    <a:bodyPr/>
                    <a:lstStyle/>
                    <a:p>
                      <a:pPr algn="ctr"/>
                      <a:r>
                        <a:rPr lang="en-IN" sz="1600" b="1">
                          <a:latin typeface="Times New Roman" panose="02020603050405020304" pitchFamily="18" charset="0"/>
                          <a:cs typeface="Times New Roman" panose="02020603050405020304" pitchFamily="18" charset="0"/>
                        </a:rPr>
                        <a:t>Oct</a:t>
                      </a:r>
                    </a:p>
                  </a:txBody>
                  <a:tcPr anchor="ctr"/>
                </a:tc>
                <a:tc>
                  <a:txBody>
                    <a:bodyPr/>
                    <a:lstStyle/>
                    <a:p>
                      <a:pPr algn="ctr"/>
                      <a:r>
                        <a:rPr lang="en-IN" sz="1600">
                          <a:latin typeface="Times New Roman" panose="02020603050405020304" pitchFamily="18" charset="0"/>
                          <a:cs typeface="Times New Roman" panose="02020603050405020304" pitchFamily="18" charset="0"/>
                        </a:rPr>
                        <a:t>361.0</a:t>
                      </a:r>
                    </a:p>
                  </a:txBody>
                  <a:tcPr anchor="ctr"/>
                </a:tc>
                <a:tc>
                  <a:txBody>
                    <a:bodyPr/>
                    <a:lstStyle/>
                    <a:p>
                      <a:pPr algn="ctr"/>
                      <a:r>
                        <a:rPr lang="en-IN" sz="1600">
                          <a:latin typeface="Times New Roman" panose="02020603050405020304" pitchFamily="18" charset="0"/>
                          <a:cs typeface="Times New Roman" panose="02020603050405020304" pitchFamily="18" charset="0"/>
                        </a:rPr>
                        <a:t>67.6</a:t>
                      </a:r>
                    </a:p>
                  </a:txBody>
                  <a:tcPr anchor="ctr"/>
                </a:tc>
                <a:tc>
                  <a:txBody>
                    <a:bodyPr/>
                    <a:lstStyle/>
                    <a:p>
                      <a:pPr algn="ctr"/>
                      <a:r>
                        <a:rPr lang="en-IN" sz="1600">
                          <a:latin typeface="Times New Roman" panose="02020603050405020304" pitchFamily="18" charset="0"/>
                          <a:cs typeface="Times New Roman" panose="02020603050405020304" pitchFamily="18" charset="0"/>
                        </a:rPr>
                        <a:t>585.4*</a:t>
                      </a:r>
                    </a:p>
                  </a:txBody>
                  <a:tcPr anchor="ctr"/>
                </a:tc>
                <a:tc>
                  <a:txBody>
                    <a:bodyPr/>
                    <a:lstStyle/>
                    <a:p>
                      <a:pPr algn="ctr"/>
                      <a:r>
                        <a:rPr lang="en-IN" sz="160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2578140243"/>
                  </a:ext>
                </a:extLst>
              </a:tr>
              <a:tr h="500000">
                <a:tc>
                  <a:txBody>
                    <a:bodyPr/>
                    <a:lstStyle/>
                    <a:p>
                      <a:pPr algn="ctr"/>
                      <a:r>
                        <a:rPr lang="en-IN" sz="1600" b="1">
                          <a:latin typeface="Times New Roman" panose="02020603050405020304" pitchFamily="18" charset="0"/>
                          <a:cs typeface="Times New Roman" panose="02020603050405020304" pitchFamily="18" charset="0"/>
                        </a:rPr>
                        <a:t>Dec</a:t>
                      </a:r>
                    </a:p>
                  </a:txBody>
                  <a:tcPr anchor="ctr"/>
                </a:tc>
                <a:tc>
                  <a:txBody>
                    <a:bodyPr/>
                    <a:lstStyle/>
                    <a:p>
                      <a:pPr algn="ctr"/>
                      <a:r>
                        <a:rPr lang="en-IN" sz="1600">
                          <a:latin typeface="Times New Roman" panose="02020603050405020304" pitchFamily="18" charset="0"/>
                          <a:cs typeface="Times New Roman" panose="02020603050405020304" pitchFamily="18" charset="0"/>
                        </a:rPr>
                        <a:t>94.6</a:t>
                      </a:r>
                    </a:p>
                  </a:txBody>
                  <a:tcPr anchor="ctr"/>
                </a:tc>
                <a:tc>
                  <a:txBody>
                    <a:bodyPr/>
                    <a:lstStyle/>
                    <a:p>
                      <a:pPr algn="ctr"/>
                      <a:r>
                        <a:rPr lang="en-IN" sz="1600">
                          <a:latin typeface="Times New Roman" panose="02020603050405020304" pitchFamily="18" charset="0"/>
                          <a:cs typeface="Times New Roman" panose="02020603050405020304" pitchFamily="18" charset="0"/>
                        </a:rPr>
                        <a:t>1.0</a:t>
                      </a:r>
                    </a:p>
                  </a:txBody>
                  <a:tcPr anchor="ctr"/>
                </a:tc>
                <a:tc>
                  <a:txBody>
                    <a:bodyPr/>
                    <a:lstStyle/>
                    <a:p>
                      <a:pPr algn="ctr"/>
                      <a:r>
                        <a:rPr lang="en-IN" sz="1600">
                          <a:latin typeface="Times New Roman" panose="02020603050405020304" pitchFamily="18" charset="0"/>
                          <a:cs typeface="Times New Roman" panose="02020603050405020304" pitchFamily="18" charset="0"/>
                        </a:rPr>
                        <a:t>54.2</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2.2</a:t>
                      </a:r>
                    </a:p>
                  </a:txBody>
                  <a:tcPr anchor="ctr"/>
                </a:tc>
                <a:extLst>
                  <a:ext uri="{0D108BD9-81ED-4DB2-BD59-A6C34878D82A}">
                    <a16:rowId xmlns:a16="http://schemas.microsoft.com/office/drawing/2014/main" val="2578140244"/>
                  </a:ext>
                </a:extLst>
              </a:tr>
            </a:tbl>
          </a:graphicData>
        </a:graphic>
      </p:graphicFrame>
    </p:spTree>
    <p:extLst>
      <p:ext uri="{BB962C8B-B14F-4D97-AF65-F5344CB8AC3E}">
        <p14:creationId xmlns:p14="http://schemas.microsoft.com/office/powerpoint/2010/main" val="3793471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E4F56-87C5-1234-ABCD-EF012345678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Methodology / Approach</a:t>
            </a:r>
          </a:p>
        </p:txBody>
      </p:sp>
      <p:sp>
        <p:nvSpPr>
          <p:cNvPr id="3" name="Content Placeholder 2">
            <a:extLst>
              <a:ext uri="{FF2B5EF4-FFF2-40B4-BE49-F238E27FC236}">
                <a16:creationId xmlns:a16="http://schemas.microsoft.com/office/drawing/2014/main" id="{DEADBEEF-1234-5678-ABCD-EF0123456789}"/>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Data Collection: Monthly totals from field registers (Jan 2022 – Dec 2025), cross-checked for consistency.</a:t>
            </a:r>
          </a:p>
          <a:p>
            <a:r>
              <a:rPr lang="en-US" dirty="0">
                <a:latin typeface="Times New Roman" panose="02020603050405020304" pitchFamily="18" charset="0"/>
                <a:cs typeface="Times New Roman" panose="02020603050405020304" pitchFamily="18" charset="0"/>
              </a:rPr>
              <a:t>Preprocessing: Pandas </a:t>
            </a:r>
            <a:r>
              <a:rPr lang="en-US" dirty="0" err="1">
                <a:latin typeface="Times New Roman" panose="02020603050405020304" pitchFamily="18" charset="0"/>
                <a:cs typeface="Times New Roman" panose="02020603050405020304" pitchFamily="18" charset="0"/>
              </a:rPr>
              <a:t>DataFrame</a:t>
            </a:r>
            <a:r>
              <a:rPr lang="en-US" dirty="0">
                <a:latin typeface="Times New Roman" panose="02020603050405020304" pitchFamily="18" charset="0"/>
                <a:cs typeface="Times New Roman" panose="02020603050405020304" pitchFamily="18" charset="0"/>
              </a:rPr>
              <a:t>; no missing values; Label Encoding + </a:t>
            </a:r>
            <a:r>
              <a:rPr lang="en-US" dirty="0" err="1">
                <a:latin typeface="Times New Roman" panose="02020603050405020304" pitchFamily="18" charset="0"/>
                <a:cs typeface="Times New Roman" panose="02020603050405020304" pitchFamily="18" charset="0"/>
              </a:rPr>
              <a:t>StandardScaler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normalisation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Feature Engineering: Season (0–3) and Rainfall Class (0–3) derived from month and rainfall thresholds.</a:t>
            </a:r>
          </a:p>
          <a:p>
            <a:r>
              <a:rPr lang="en-US" dirty="0">
                <a:latin typeface="Times New Roman" panose="02020603050405020304" pitchFamily="18" charset="0"/>
                <a:cs typeface="Times New Roman" panose="02020603050405020304" pitchFamily="18" charset="0"/>
              </a:rPr>
              <a:t>Model Training: Random Forest (100 trees, Gini), Decision Tree (Entropy, </a:t>
            </a:r>
            <a:r>
              <a:rPr lang="en-US" dirty="0" err="1">
                <a:latin typeface="Times New Roman" panose="02020603050405020304" pitchFamily="18" charset="0"/>
                <a:cs typeface="Times New Roman" panose="02020603050405020304" pitchFamily="18" charset="0"/>
              </a:rPr>
              <a:t>max_depth</a:t>
            </a:r>
            <a:r>
              <a:rPr lang="en-US" dirty="0">
                <a:latin typeface="Times New Roman" panose="02020603050405020304" pitchFamily="18" charset="0"/>
                <a:cs typeface="Times New Roman" panose="02020603050405020304" pitchFamily="18" charset="0"/>
              </a:rPr>
              <a:t>=6), Linear Regression (OLS).</a:t>
            </a:r>
          </a:p>
          <a:p>
            <a:r>
              <a:rPr lang="en-US" dirty="0">
                <a:latin typeface="Times New Roman" panose="02020603050405020304" pitchFamily="18" charset="0"/>
                <a:cs typeface="Times New Roman" panose="02020603050405020304" pitchFamily="18" charset="0"/>
              </a:rPr>
              <a:t>Evaluation: Accuracy &amp; Confusion Matrix for classifiers; MAE, RMSE, R² for regression.</a:t>
            </a:r>
          </a:p>
        </p:txBody>
      </p:sp>
    </p:spTree>
    <p:extLst>
      <p:ext uri="{BB962C8B-B14F-4D97-AF65-F5344CB8AC3E}">
        <p14:creationId xmlns:p14="http://schemas.microsoft.com/office/powerpoint/2010/main" val="3420363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B3C4D-1234-5678-ABCD-EF012345678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Tools and Technologies Used</a:t>
            </a:r>
          </a:p>
        </p:txBody>
      </p:sp>
      <p:sp>
        <p:nvSpPr>
          <p:cNvPr id="3" name="Content Placeholder 2">
            <a:extLst>
              <a:ext uri="{FF2B5EF4-FFF2-40B4-BE49-F238E27FC236}">
                <a16:creationId xmlns:a16="http://schemas.microsoft.com/office/drawing/2014/main" id="{6B7C8D9E-1234-5678-ABCD-EF0123456789}"/>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Language: Python 3</a:t>
            </a:r>
          </a:p>
          <a:p>
            <a:r>
              <a:rPr lang="en-US">
                <a:latin typeface="Times New Roman" panose="02020603050405020304" pitchFamily="18" charset="0"/>
                <a:cs typeface="Times New Roman" panose="02020603050405020304" pitchFamily="18" charset="0"/>
              </a:rPr>
              <a:t>Libraries: scikit-learn, pandas, numpy, matplotlib, seaborn</a:t>
            </a:r>
          </a:p>
          <a:p>
            <a:r>
              <a:rPr lang="en-US">
                <a:latin typeface="Times New Roman" panose="02020603050405020304" pitchFamily="18" charset="0"/>
                <a:cs typeface="Times New Roman" panose="02020603050405020304" pitchFamily="18" charset="0"/>
              </a:rPr>
              <a:t>Development Environment: Jupyter Notebook / Google Colab</a:t>
            </a:r>
          </a:p>
          <a:p>
            <a:r>
              <a:rPr lang="en-US">
                <a:latin typeface="Times New Roman" panose="02020603050405020304" pitchFamily="18" charset="0"/>
                <a:cs typeface="Times New Roman" panose="02020603050405020304" pitchFamily="18" charset="0"/>
              </a:rPr>
              <a:t>Algorithms: RandomForestClassifier, DecisionTreeClassifier, LinearRegression (scikit-learn)</a:t>
            </a:r>
          </a:p>
          <a:p>
            <a:r>
              <a:rPr lang="en-US">
                <a:latin typeface="Times New Roman" panose="02020603050405020304" pitchFamily="18" charset="0"/>
                <a:cs typeface="Times New Roman" panose="02020603050405020304" pitchFamily="18" charset="0"/>
              </a:rPr>
              <a:t>Preprocessing: LabelEncoder, StandardScaler, train_test_split</a:t>
            </a:r>
          </a:p>
        </p:txBody>
      </p:sp>
    </p:spTree>
    <p:extLst>
      <p:ext uri="{BB962C8B-B14F-4D97-AF65-F5344CB8AC3E}">
        <p14:creationId xmlns:p14="http://schemas.microsoft.com/office/powerpoint/2010/main" val="3420363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D9E0F-1234-5678-ABCD-EF012345678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8D9E0F1A-1234-5678-ABCD-EF0123456789}"/>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Random Forest Classifier — Best model: Accuracy = 83.33% (robust ensemble averaging).</a:t>
            </a:r>
          </a:p>
          <a:p>
            <a:r>
              <a:rPr lang="en-US" dirty="0">
                <a:latin typeface="Times New Roman" panose="02020603050405020304" pitchFamily="18" charset="0"/>
                <a:cs typeface="Times New Roman" panose="02020603050405020304" pitchFamily="18" charset="0"/>
              </a:rPr>
              <a:t>Decision Tree Classifier — Accuracy = 75.00% (interpretable, rule-based model).</a:t>
            </a:r>
          </a:p>
          <a:p>
            <a:r>
              <a:rPr lang="en-US" dirty="0">
                <a:latin typeface="Times New Roman" panose="02020603050405020304" pitchFamily="18" charset="0"/>
                <a:cs typeface="Times New Roman" panose="02020603050405020304" pitchFamily="18" charset="0"/>
              </a:rPr>
              <a:t>Linear Regression — Continuous prediction: R² = 0.71 (MAE and RMSE within acceptable range).</a:t>
            </a:r>
          </a:p>
          <a:p>
            <a:r>
              <a:rPr lang="en-US" dirty="0">
                <a:latin typeface="Times New Roman" panose="02020603050405020304" pitchFamily="18" charset="0"/>
                <a:cs typeface="Times New Roman" panose="02020603050405020304" pitchFamily="18" charset="0"/>
              </a:rPr>
              <a:t>Monsoon season (Jun–Sep) contributes ~65% of annual rainfall across all four years.</a:t>
            </a:r>
          </a:p>
          <a:p>
            <a:r>
              <a:rPr lang="en-US" dirty="0">
                <a:latin typeface="Times New Roman" panose="02020603050405020304" pitchFamily="18" charset="0"/>
                <a:cs typeface="Times New Roman" panose="02020603050405020304" pitchFamily="18" charset="0"/>
              </a:rPr>
              <a:t>Oct 2024 recorded peak rainfall of 585.4 mm (Very High) — indicative of flood risk.</a:t>
            </a:r>
          </a:p>
        </p:txBody>
      </p:sp>
    </p:spTree>
    <p:extLst>
      <p:ext uri="{BB962C8B-B14F-4D97-AF65-F5344CB8AC3E}">
        <p14:creationId xmlns:p14="http://schemas.microsoft.com/office/powerpoint/2010/main" val="3420363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F1A2B-1234-5678-ABCD-EF012345678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Discussion / Analysis</a:t>
            </a:r>
          </a:p>
        </p:txBody>
      </p:sp>
      <p:sp>
        <p:nvSpPr>
          <p:cNvPr id="3" name="Content Placeholder 2">
            <a:extLst>
              <a:ext uri="{FF2B5EF4-FFF2-40B4-BE49-F238E27FC236}">
                <a16:creationId xmlns:a16="http://schemas.microsoft.com/office/drawing/2014/main" id="{0F1A2B3C-1234-5678-ABCD-EF0123456789}"/>
              </a:ext>
            </a:extLst>
          </p:cNvPr>
          <p:cNvSpPr>
            <a:spLocks noGrp="1"/>
          </p:cNvSpPr>
          <p:nvPr>
            <p:ph idx="1"/>
          </p:nvPr>
        </p:nvSpPr>
        <p:spPr/>
        <p:txBody>
          <a:bodyPr>
            <a:normAutofit lnSpcReduction="10000"/>
          </a:bodyPr>
          <a:lstStyle/>
          <a:p>
            <a:r>
              <a:rPr lang="en-US">
                <a:latin typeface="Times New Roman" panose="02020603050405020304" pitchFamily="18" charset="0"/>
                <a:cs typeface="Times New Roman" panose="02020603050405020304" pitchFamily="18" charset="0"/>
              </a:rPr>
              <a:t>Random Forest outperformed due to ensemble bagging — reduces variance on small, noisy datasets.</a:t>
            </a:r>
          </a:p>
          <a:p>
            <a:r>
              <a:rPr lang="en-US">
                <a:latin typeface="Times New Roman" panose="02020603050405020304" pitchFamily="18" charset="0"/>
                <a:cs typeface="Times New Roman" panose="02020603050405020304" pitchFamily="18" charset="0"/>
              </a:rPr>
              <a:t>Decision Tree provided interpretable rules; depth constraint (max_depth=6) prevented overfitting.</a:t>
            </a:r>
          </a:p>
          <a:p>
            <a:r>
              <a:rPr lang="en-US">
                <a:latin typeface="Times New Roman" panose="02020603050405020304" pitchFamily="18" charset="0"/>
                <a:cs typeface="Times New Roman" panose="02020603050405020304" pitchFamily="18" charset="0"/>
              </a:rPr>
              <a:t>Linear Regression limited by linearity assumption — misses complex seasonal non-linearities.</a:t>
            </a:r>
          </a:p>
          <a:p>
            <a:r>
              <a:rPr lang="en-US">
                <a:latin typeface="Times New Roman" panose="02020603050405020304" pitchFamily="18" charset="0"/>
                <a:cs typeface="Times New Roman" panose="02020603050405020304" pitchFamily="18" charset="0"/>
              </a:rPr>
              <a:t>Small dataset (n=48) constrains generalisation; more years of data would improve performance.</a:t>
            </a:r>
          </a:p>
          <a:p>
            <a:r>
              <a:rPr lang="en-US">
                <a:latin typeface="Times New Roman" panose="02020603050405020304" pitchFamily="18" charset="0"/>
                <a:cs typeface="Times New Roman" panose="02020603050405020304" pitchFamily="18" charset="0"/>
              </a:rPr>
              <a:t>Results relevant to district-level crop scheduling and flood/drought early warning systems.</a:t>
            </a:r>
          </a:p>
        </p:txBody>
      </p:sp>
    </p:spTree>
    <p:extLst>
      <p:ext uri="{BB962C8B-B14F-4D97-AF65-F5344CB8AC3E}">
        <p14:creationId xmlns:p14="http://schemas.microsoft.com/office/powerpoint/2010/main" val="3420363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B3C4D-1234-5678-ABCD-EF012345678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Conclusion and Future Work</a:t>
            </a:r>
          </a:p>
        </p:txBody>
      </p:sp>
      <p:sp>
        <p:nvSpPr>
          <p:cNvPr id="3" name="Content Placeholder 2">
            <a:extLst>
              <a:ext uri="{FF2B5EF4-FFF2-40B4-BE49-F238E27FC236}">
                <a16:creationId xmlns:a16="http://schemas.microsoft.com/office/drawing/2014/main" id="{2B3C4D5E-1234-5678-ABCD-EF0123456789}"/>
              </a:ext>
            </a:extLst>
          </p:cNvPr>
          <p:cNvSpPr>
            <a:spLocks noGrp="1"/>
          </p:cNvSpPr>
          <p:nvPr>
            <p:ph idx="1"/>
          </p:nvPr>
        </p:nvSpPr>
        <p:spPr/>
        <p:txBody>
          <a:bodyPr>
            <a:normAutofit lnSpcReduction="10000"/>
          </a:bodyPr>
          <a:lstStyle/>
          <a:p>
            <a:r>
              <a:rPr lang="en-US">
                <a:latin typeface="Times New Roman" panose="02020603050405020304" pitchFamily="18" charset="0"/>
                <a:cs typeface="Times New Roman" panose="02020603050405020304" pitchFamily="18" charset="0"/>
              </a:rPr>
              <a:t>Successfully compared Random Forest (83.33%), Decision Tree (75%) and Linear Regression (R²=0.71).</a:t>
            </a:r>
          </a:p>
          <a:p>
            <a:r>
              <a:rPr lang="en-US">
                <a:latin typeface="Times New Roman" panose="02020603050405020304" pitchFamily="18" charset="0"/>
                <a:cs typeface="Times New Roman" panose="02020603050405020304" pitchFamily="18" charset="0"/>
              </a:rPr>
              <a:t>ML models yield practically useful predictions for agricultural planning from small meteorological datasets.</a:t>
            </a:r>
          </a:p>
          <a:p>
            <a:r>
              <a:rPr lang="en-US">
                <a:latin typeface="Times New Roman" panose="02020603050405020304" pitchFamily="18" charset="0"/>
                <a:cs typeface="Times New Roman" panose="02020603050405020304" pitchFamily="18" charset="0"/>
              </a:rPr>
              <a:t>Random Forest recommended for classification; Linear Regression for continuous amount estimation.</a:t>
            </a:r>
          </a:p>
          <a:p>
            <a:r>
              <a:rPr lang="en-US">
                <a:latin typeface="Times New Roman" panose="02020603050405020304" pitchFamily="18" charset="0"/>
                <a:cs typeface="Times New Roman" panose="02020603050405020304" pitchFamily="18" charset="0"/>
              </a:rPr>
              <a:t>Future: Expand dataset, integrate ENSO/IOD climate indices, explore LSTM deep learning models.</a:t>
            </a:r>
          </a:p>
          <a:p>
            <a:r>
              <a:rPr lang="en-US">
                <a:latin typeface="Times New Roman" panose="02020603050405020304" pitchFamily="18" charset="0"/>
                <a:cs typeface="Times New Roman" panose="02020603050405020304" pitchFamily="18" charset="0"/>
              </a:rPr>
              <a:t>Applications: irrigation scheduling, flood risk mitigation, crop selection, extension services.</a:t>
            </a:r>
          </a:p>
        </p:txBody>
      </p:sp>
    </p:spTree>
    <p:extLst>
      <p:ext uri="{BB962C8B-B14F-4D97-AF65-F5344CB8AC3E}">
        <p14:creationId xmlns:p14="http://schemas.microsoft.com/office/powerpoint/2010/main" val="3420363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5E6F-1234-5678-ABCD-EF012345678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References / Acknowledgements</a:t>
            </a:r>
          </a:p>
        </p:txBody>
      </p:sp>
      <p:sp>
        <p:nvSpPr>
          <p:cNvPr id="3" name="Content Placeholder 2">
            <a:extLst>
              <a:ext uri="{FF2B5EF4-FFF2-40B4-BE49-F238E27FC236}">
                <a16:creationId xmlns:a16="http://schemas.microsoft.com/office/drawing/2014/main" id="{4D5E6F7A-1234-5678-ABCD-EF0123456789}"/>
              </a:ext>
            </a:extLst>
          </p:cNvPr>
          <p:cNvSpPr>
            <a:spLocks noGrp="1"/>
          </p:cNvSpPr>
          <p:nvPr>
            <p:ph idx="1"/>
          </p:nvPr>
        </p:nvSpPr>
        <p:spPr/>
        <p:txBody>
          <a:bodyPr/>
          <a:lstStyle/>
          <a:p>
            <a:pPr marL="514350" indent="-514350">
              <a:buAutoNum type="arabicPeriod"/>
            </a:pPr>
            <a:r>
              <a:rPr lang="en-US" dirty="0" err="1">
                <a:latin typeface="Times New Roman" panose="02020603050405020304" pitchFamily="18" charset="0"/>
                <a:cs typeface="Times New Roman" panose="02020603050405020304" pitchFamily="18" charset="0"/>
              </a:rPr>
              <a:t>Breiman</a:t>
            </a:r>
            <a:r>
              <a:rPr lang="en-US" dirty="0">
                <a:latin typeface="Times New Roman" panose="02020603050405020304" pitchFamily="18" charset="0"/>
                <a:cs typeface="Times New Roman" panose="02020603050405020304" pitchFamily="18" charset="0"/>
              </a:rPr>
              <a:t> (2001). Random Forests. Machine Learning, 45(1), 5–</a:t>
            </a:r>
          </a:p>
          <a:p>
            <a:pPr marL="0" indent="0">
              <a:buNone/>
            </a:pPr>
            <a:r>
              <a:rPr lang="en-US" dirty="0">
                <a:latin typeface="Times New Roman" panose="02020603050405020304" pitchFamily="18" charset="0"/>
                <a:cs typeface="Times New Roman" panose="02020603050405020304" pitchFamily="18" charset="0"/>
              </a:rPr>
              <a:t>2.   Mishra &amp; Desai (2006). Drought forecasting. </a:t>
            </a:r>
            <a:r>
              <a:rPr lang="en-US">
                <a:latin typeface="Times New Roman" panose="02020603050405020304" pitchFamily="18" charset="0"/>
                <a:cs typeface="Times New Roman" panose="02020603050405020304" pitchFamily="18" charset="0"/>
              </a:rPr>
              <a:t>Ecological Modelling.                  </a:t>
            </a:r>
            <a:endParaRPr lang="en-US" dirty="0">
              <a:latin typeface="Times New Roman" panose="02020603050405020304" pitchFamily="18" charset="0"/>
              <a:cs typeface="Times New Roman" panose="02020603050405020304" pitchFamily="18" charset="0"/>
            </a:endParaRPr>
          </a:p>
          <a:p>
            <a:pPr marL="514350" indent="-514350">
              <a:buAutoNum type="arabicPeriod" startAt="3"/>
            </a:pPr>
            <a:r>
              <a:rPr lang="en-US" dirty="0">
                <a:latin typeface="Times New Roman" panose="02020603050405020304" pitchFamily="18" charset="0"/>
                <a:cs typeface="Times New Roman" panose="02020603050405020304" pitchFamily="18" charset="0"/>
              </a:rPr>
              <a:t>Chattopadhyay (2010). Linear regression for monsoon rainfall. J. </a:t>
            </a:r>
            <a:r>
              <a:rPr lang="en-US" dirty="0" err="1">
                <a:latin typeface="Times New Roman" panose="02020603050405020304" pitchFamily="18" charset="0"/>
                <a:cs typeface="Times New Roman" panose="02020603050405020304" pitchFamily="18" charset="0"/>
              </a:rPr>
              <a:t>Hydroinformatics</a:t>
            </a:r>
            <a:r>
              <a:rPr lang="en-US" dirty="0">
                <a:latin typeface="Times New Roman" panose="02020603050405020304" pitchFamily="18" charset="0"/>
                <a:cs typeface="Times New Roman" panose="02020603050405020304" pitchFamily="18" charset="0"/>
              </a:rPr>
              <a:t>, 12(4).</a:t>
            </a:r>
          </a:p>
          <a:p>
            <a:pPr marL="514350" indent="-514350">
              <a:buAutoNum type="arabicPeriod" startAt="3"/>
            </a:pPr>
            <a:r>
              <a:rPr lang="en-US" dirty="0">
                <a:latin typeface="Times New Roman" panose="02020603050405020304" pitchFamily="18" charset="0"/>
                <a:cs typeface="Times New Roman" panose="02020603050405020304" pitchFamily="18" charset="0"/>
              </a:rPr>
              <a:t>Rodriguez-Galiano et al. (2014). Random Forest for precipitation. Remote Sensing of Environment.</a:t>
            </a:r>
          </a:p>
          <a:p>
            <a:pPr marL="514350" indent="-514350">
              <a:buAutoNum type="arabicPeriod" startAt="3"/>
            </a:pPr>
            <a:r>
              <a:rPr lang="en-US" dirty="0">
                <a:latin typeface="Times New Roman" panose="02020603050405020304" pitchFamily="18" charset="0"/>
                <a:cs typeface="Times New Roman" panose="02020603050405020304" pitchFamily="18" charset="0"/>
              </a:rPr>
              <a:t>Acknowledgement: Course Teacher, UAS GKVK Bangalore, and fellow group members.</a:t>
            </a:r>
          </a:p>
        </p:txBody>
      </p:sp>
    </p:spTree>
    <p:extLst>
      <p:ext uri="{BB962C8B-B14F-4D97-AF65-F5344CB8AC3E}">
        <p14:creationId xmlns:p14="http://schemas.microsoft.com/office/powerpoint/2010/main" val="3420363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1453</Words>
  <Application>Microsoft Office PowerPoint</Application>
  <PresentationFormat>Widescreen</PresentationFormat>
  <Paragraphs>169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Algerian</vt:lpstr>
      <vt:lpstr>Aptos</vt:lpstr>
      <vt:lpstr>Aptos Display</vt:lpstr>
      <vt:lpstr>Arial</vt:lpstr>
      <vt:lpstr>Times New Roman</vt:lpstr>
      <vt:lpstr>Office Theme</vt:lpstr>
      <vt:lpstr>Monthly Rainfall Prediction and Analysis using Machine Learning</vt:lpstr>
      <vt:lpstr>Content</vt:lpstr>
      <vt:lpstr>Introduction</vt:lpstr>
      <vt:lpstr>Problem Statement</vt:lpstr>
      <vt:lpstr>Motivation</vt:lpstr>
      <vt:lpstr>PowerPoint Presentation</vt:lpstr>
      <vt:lpstr>3.5 Summary of Literature Review Table 4: Summary of Literature Review </vt:lpstr>
      <vt:lpstr>Objectives of the Project</vt:lpstr>
      <vt:lpstr>Dataset Overview</vt:lpstr>
      <vt:lpstr>Dataset</vt:lpstr>
      <vt:lpstr>Methodology / Approach</vt:lpstr>
      <vt:lpstr>Tools and Technologies Used</vt:lpstr>
      <vt:lpstr>Results</vt:lpstr>
      <vt:lpstr>Discussion / Analysis</vt:lpstr>
      <vt:lpstr>Conclusion and Future Work</vt:lpstr>
      <vt:lpstr>References /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PRABHURAJ METIPATIL</dc:creator>
  <cp:lastModifiedBy>sudha raju</cp:lastModifiedBy>
  <cp:revision>9</cp:revision>
  <dcterms:created xsi:type="dcterms:W3CDTF">2026-04-07T05:30:05Z</dcterms:created>
  <dcterms:modified xsi:type="dcterms:W3CDTF">2026-04-16T04:18:56Z</dcterms:modified>
</cp:coreProperties>
</file>