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1853D-50E0-7FD0-D553-9C8B61487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1DD1E-B236-BA80-CB3D-0FDE599DB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A740F-43BE-230C-F1E4-0A31120A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F54E-DF06-BA31-86CE-C3F29D19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2224E-2F6F-1EA9-798C-61F5F2E7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0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884C-3F16-5097-4FC1-6886C69EB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93267-F8A8-57A8-58AE-D25FFC9D6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5072F-1B2D-26E9-68C7-DF2D512D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4C69D-F21B-A62A-63AE-AB6D937C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0DCFF-17F7-4328-0568-17D83B43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3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1A4D-94E4-BEA9-8CB4-83D44085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4916F-64D8-F261-24E9-552600E11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0A88D-99C8-8CC2-5010-0BB43A45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3221E-03FB-20CC-4AE7-04F83FCF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E28C6-A8E5-840A-E499-93E06EE1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6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B5D5-D541-24A6-A715-D5037594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93509-54B2-4273-9664-FB058B9D7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8F7BC-CFAB-A1A6-12B2-581D1DF08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59645-66C3-A9F0-37D0-6E815899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6C3AE-D9BC-CE45-8D17-2CA05A52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8BABF-F86A-4494-80E8-AFF2330F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34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465F-2AEA-FAB4-30C3-4454BFA3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51C84-4199-B092-1C2F-4F730397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973D9-6ACF-6B77-6D80-8AF5A98B6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7E565-6911-BF6A-D36A-D9B3804E7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570D3D-84B4-B032-2F8F-2AD2F2998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3C67BE-8B8A-0CC0-347F-8F3D1EA7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8719C-116E-28BD-D402-AEDBA399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447376-E17A-5476-254E-413A6074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839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DCE0-F8EB-76B2-5B0F-DD4389D2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51616-7501-F621-50F2-03E20CAC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1B139-B5ED-5A7F-D9FE-381E92A1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CE846-D903-37F5-4505-46702654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15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0B9FD-7469-FEDA-5C05-07A3BDA7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95172-4AF3-720B-05AF-3CC9C763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12E31-9BD9-30EA-6F18-23B458B4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71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DCF7-95A1-318F-04B0-82DF1EACE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71ECC-285C-8F0B-0EE2-EDA8D94DA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8C724-D32B-D00F-5EDB-EA529E8E3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8A8BB-C45C-2AFB-630F-E5E39E2A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5B49D-A571-35F0-4874-9C47208A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027DF-5E3F-EA2B-DC70-154C46BA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70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1D1E-9E25-5018-51AF-C9A450C7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538E9-7C43-3CD5-F0FC-E107995C1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4FA39-C13C-B96A-7FE6-467EA2175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3E8C1-E728-6060-F639-E82BE7AC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A1F1D-9C8C-9F49-6C8D-5D5DFFB6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DC58D-7E3B-7793-0214-E8164AB2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49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E498-010D-4C76-F58A-D2C18AF2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C04B2-42C2-23A4-11CE-0CAA8CAEE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444C-F379-2998-02EE-D9583842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A8AB-275D-3AC2-9A1B-268735A0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1C530-F2A7-D2DA-562E-2408F1C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56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A007F9-CF51-FA2F-4A84-94814906F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CDA71-581D-4B87-0422-0AB7FB826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36467-B530-B080-76CA-F9FE6F27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344CF-CAF8-3D19-A8CB-25A18E46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146A1-976A-E4C9-FCCB-7033BDB9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3980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CC225-2153-866B-3D6E-88CAF853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51CF3-9ABA-CE7E-6208-6E7EC5C07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C5C53-A18B-A1D8-106A-C6CEA73BB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2F15-AEFE-4C25-8DC9-8350A668AD4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58E2A-6CFD-9D11-5F43-6C0E5A7E4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F5DD8-90A6-21BF-8B26-08420F576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00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hyperlink" Target="https://www.geeksforgeeks.org/data-analysis/what-is-exploratory-data-analysi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CDA2-55C0-97FF-FC5C-2A12E4E79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567" y="3086670"/>
            <a:ext cx="9144000" cy="975172"/>
          </a:xfrm>
        </p:spPr>
        <p:txBody>
          <a:bodyPr>
            <a:normAutofit/>
          </a:bodyPr>
          <a:lstStyle/>
          <a:p>
            <a:pPr algn="l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Rainfall Prediction and Analysis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F19D3-A721-37B3-1BFF-096CA1512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5085" y="5214897"/>
            <a:ext cx="5050972" cy="1241218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/>
              <a:t>EAI421 – Application of AI &amp; ML | IV B.Sc.(Hons.) Agriculture</a:t>
            </a:r>
          </a:p>
          <a:p>
            <a:pPr algn="l"/>
            <a:r>
              <a:rPr lang="en-IN" dirty="0"/>
              <a:t>Suchitha N - AMB2268 | Yashaswini B - AMB2304 | Srushti T S - AMB2267</a:t>
            </a:r>
          </a:p>
          <a:p>
            <a:pPr algn="l"/>
            <a:r>
              <a:rPr lang="en-IN" dirty="0"/>
              <a:t>Academic Year 2025-26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64635-5D0A-2372-382C-A978CB05A6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310" y="401885"/>
            <a:ext cx="2874010" cy="19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0F93BF-F706-C597-2EA2-FB3C33B61910}"/>
              </a:ext>
            </a:extLst>
          </p:cNvPr>
          <p:cNvSpPr txBox="1"/>
          <p:nvPr/>
        </p:nvSpPr>
        <p:spPr>
          <a:xfrm>
            <a:off x="1012280" y="491364"/>
            <a:ext cx="729343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UNIVERSITY OF AGRICULTURAL SCIENCES 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COLLEGE OF AGRICULTURE,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GKVK, BANGLORE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8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67D4-B5AC-88D0-1315-459ABFF5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5BA53-3DA3-A241-19B4-AAADAD8A0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045393"/>
          </a:xfrm>
        </p:spPr>
        <p:txBody>
          <a:bodyPr>
            <a:normAutofit fontScale="85000" lnSpcReduction="20000"/>
          </a:bodyPr>
          <a:lstStyle/>
          <a:p>
            <a:endParaRPr lang="en-IN"/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Methodlogy/approach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References/Acknowledgements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71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88F0-1B1A-F8E0-28FB-2E91D413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2088-2537-C898-EDE8-F29A38AB4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India’s agriculture is predominantly rain-fed, making rainfall prediction critical for crop planning and resource management.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numerical weather models require high-resolution data and complex infrastructure — beyond district/farm level access.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can capture non-linear seasonal patterns using limited historical data to support agricultural decision-making.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and compares three ML models — Random Forest, Decision Tree, and Linear Regression — on 4 years of monthly rainfall data (2012–2015).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85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C64E-6259-BDEB-81C7-0AA36326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4DE5B-6CAB-30B3-9B45-552EB9F59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rainfall forecasting requires complex atmospheric models — inaccessible at district or farm level in developing economies.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Farmers make crop and irrigation decisions without reliable rainfall forecasts — leading to losses and water scarcity.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Challenge: Build an accurate, lightweight ML model using only 48 monthly observations (4 years, 2012–2015).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Which algorithm — Random Forest, Decision Tree, or Linear Regression — best predicts monthly rainfall from small datasets?</a:t>
            </a:r>
          </a:p>
        </p:txBody>
      </p:sp>
    </p:spTree>
    <p:extLst>
      <p:ext uri="{BB962C8B-B14F-4D97-AF65-F5344CB8AC3E}">
        <p14:creationId xmlns:p14="http://schemas.microsoft.com/office/powerpoint/2010/main" val="342036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8E53-408F-025E-A2C8-E0A26CA8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56503-8164-BAD0-BA07-89BB5BB1D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India’s rain-fed agriculture is highly sensitive to rainfall variability — even small deviations cause crop losses.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Accurate forecasts enable better crop selection, sowing dates, irrigation scheduling, and harvest planning.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ML models can deliver district-level forecasts without costly weather infrastructure.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Findings directly applicable to agricultural extension services, crop planning, and water management.</a:t>
            </a:r>
          </a:p>
        </p:txBody>
      </p:sp>
    </p:spTree>
    <p:extLst>
      <p:ext uri="{BB962C8B-B14F-4D97-AF65-F5344CB8AC3E}">
        <p14:creationId xmlns:p14="http://schemas.microsoft.com/office/powerpoint/2010/main" val="3420363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5121-F97F-AF46-002F-0D26DA44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08854-5D5C-AE73-4312-FD562407A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Analyse historical monthly rainfall patterns (2012–2015) using exploratory data analysis.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engineer features: year, month index, seasonal encoding, rainfall class.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train Random Forest Classifier, Decision Tree Classifier, and Linear Regression.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 using Accuracy, MAE, RMSE, and R² score and identify the best algorithm.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insights for agricultural planning and water resource management.</a:t>
            </a:r>
          </a:p>
        </p:txBody>
      </p:sp>
    </p:spTree>
    <p:extLst>
      <p:ext uri="{BB962C8B-B14F-4D97-AF65-F5344CB8AC3E}">
        <p14:creationId xmlns:p14="http://schemas.microsoft.com/office/powerpoint/2010/main" val="342036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1F4F-43D4-2E26-3009-0B8E3B9E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03DC1-9251-3699-0C0C-F89964C67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Source: Manually recorded field observation registers (handwritten rainfall logs).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48 monthly observations — 12 months x 4 years (2012–2015), values in millimetres.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Features: Year, Month Index (1–12), Season (Dry / Pre-monsoon / Monsoon / Post-monsoon).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Target: Rainfall Class — Low (&lt;50 mm), Moderate (50–200), High (200–400), Very High (&gt;400 mm).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Split: 75% train (36 samples) / 25% test (12 samples); StandardScaler applied for regression.</a:t>
            </a:r>
          </a:p>
        </p:txBody>
      </p:sp>
    </p:spTree>
    <p:extLst>
      <p:ext uri="{BB962C8B-B14F-4D97-AF65-F5344CB8AC3E}">
        <p14:creationId xmlns:p14="http://schemas.microsoft.com/office/powerpoint/2010/main" val="342036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D740-F2E2-BDCA-2DA5-50932A00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103DC1-9251-3699-0C0C-F89964C676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863389"/>
              </p:ext>
            </p:extLst>
          </p:nvPr>
        </p:nvGraphicFramePr>
        <p:xfrm>
          <a:off x="838200" y="1825624"/>
          <a:ext cx="10515600" cy="2083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 (mm)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2013 (mm)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 (mm)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 (mm)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49361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140237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285.2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154.8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140238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140239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184.4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14024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14024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332.6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14024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585.4*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14024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140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471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4F56-87C5-1234-ABCD-EF012345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DBEEF-1234-5678-ABCD-EF0123456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Monthly totals from field registers (Jan 2012 – Dec 2015), cross-checked for consistency.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Pandas DataFrame; no missing values; Label Encoding + StandardScaler normalisation.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 Season (0–3) and Rainfall Class (0–3) derived from month and rainfall thresholds.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Random Forest (100 trees, Gini), Decision Tree (Entropy, max_depth=6), Linear Regression (OLS).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Accuracy &amp; Confusion Matrix for classifiers; MAE, RMSE, R² for regression.</a:t>
            </a:r>
          </a:p>
        </p:txBody>
      </p:sp>
    </p:spTree>
    <p:extLst>
      <p:ext uri="{BB962C8B-B14F-4D97-AF65-F5344CB8AC3E}">
        <p14:creationId xmlns:p14="http://schemas.microsoft.com/office/powerpoint/2010/main" val="3420363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3C4D-1234-5678-ABCD-EF012345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C8D9E-1234-5678-ABCD-EF0123456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 3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Libraries: scikit-learn, pandas, numpy, matplotlib, seaborn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Jupyter Notebook / Google Colab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Algorithms: RandomForestClassifier, DecisionTreeClassifier, LinearRegression (scikit-learn)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LabelEncoder, StandardScaler, train_test_split</a:t>
            </a:r>
          </a:p>
        </p:txBody>
      </p:sp>
    </p:spTree>
    <p:extLst>
      <p:ext uri="{BB962C8B-B14F-4D97-AF65-F5344CB8AC3E}">
        <p14:creationId xmlns:p14="http://schemas.microsoft.com/office/powerpoint/2010/main" val="342036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9E0F-1234-5678-ABCD-EF012345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E0F1A-1234-5678-ABCD-EF0123456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— Best model: Accuracy = 83.33% (robust ensemble averaging).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Classifier — Accuracy = 75.00% (interpretable, rule-based model).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— Continuous prediction: R² = 0.71 (MAE and RMSE within acceptable range).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Monsoon season (Jun–Sep) contributes ~65% of annual rainfall across all four years.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Oct 2014 recorded peak rainfall of 585.4 mm (Very High) — indicative of flood risk.</a:t>
            </a:r>
          </a:p>
        </p:txBody>
      </p:sp>
    </p:spTree>
    <p:extLst>
      <p:ext uri="{BB962C8B-B14F-4D97-AF65-F5344CB8AC3E}">
        <p14:creationId xmlns:p14="http://schemas.microsoft.com/office/powerpoint/2010/main" val="3420363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F1A2B-1234-5678-ABCD-EF012345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B3C-1234-5678-ABCD-EF0123456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outperformed due to ensemble bagging — reduces variance on small, noisy datasets.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provided interpretable rules; depth constraint (max_depth=6) prevented overfitting.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limited by linearity assumption — misses complex seasonal non-linearities.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(n=48) constrains generalisation; more years of data would improve performance.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 relevant to district-level crop scheduling and flood/drought early warning systems.</a:t>
            </a:r>
          </a:p>
        </p:txBody>
      </p:sp>
    </p:spTree>
    <p:extLst>
      <p:ext uri="{BB962C8B-B14F-4D97-AF65-F5344CB8AC3E}">
        <p14:creationId xmlns:p14="http://schemas.microsoft.com/office/powerpoint/2010/main" val="3420363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3C4D-1234-5678-ABCD-EF012345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C4D5E-1234-5678-ABCD-EF0123456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compared Random Forest (83.33%), Decision Tree (75%) and Linear Regression (R²=0.71).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ML models yield practically useful predictions for agricultural planning from small meteorological datasets.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recommended for classification; Linear Regression for continuous amount estimation.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Future: Expand dataset, integrate ENSO/IOD climate indices, explore LSTM deep learning models.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irrigation scheduling, flood risk mitigation, crop selection, extension services.</a:t>
            </a:r>
          </a:p>
        </p:txBody>
      </p:sp>
    </p:spTree>
    <p:extLst>
      <p:ext uri="{BB962C8B-B14F-4D97-AF65-F5344CB8AC3E}">
        <p14:creationId xmlns:p14="http://schemas.microsoft.com/office/powerpoint/2010/main" val="3420363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5E6F-1234-5678-ABCD-EF012345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References / 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E6F7A-1234-5678-ABCD-EF0123456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Breiman (2001). Random Forests. Machine Learning, 45(1), 5–32.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Mishra &amp; Desai (2006). Drought forecasting. Ecological Modelling, 198, 127–138.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Chattopadhyay (2010). Linear regression for monsoon rainfall. J. Hydroinformatics, 12(4).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Rodriguez-Galiano et al. (2014). Random Forest for precipitation. Remote Sensing of Environment.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Acknowledgement: Course Teacher, UAS GKVK Bangalore, and fellow group members.</a:t>
            </a:r>
          </a:p>
        </p:txBody>
      </p:sp>
    </p:spTree>
    <p:extLst>
      <p:ext uri="{BB962C8B-B14F-4D97-AF65-F5344CB8AC3E}">
        <p14:creationId xmlns:p14="http://schemas.microsoft.com/office/powerpoint/2010/main" val="3420363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489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Algerian</vt:lpstr>
      <vt:lpstr>Aptos</vt:lpstr>
      <vt:lpstr>Aptos Display</vt:lpstr>
      <vt:lpstr>Arial</vt:lpstr>
      <vt:lpstr>Times New Roman</vt:lpstr>
      <vt:lpstr>Office Theme</vt:lpstr>
      <vt:lpstr>Title of the project</vt:lpstr>
      <vt:lpstr>Content</vt:lpstr>
      <vt:lpstr>Introduction</vt:lpstr>
      <vt:lpstr>Problem Statement</vt:lpstr>
      <vt:lpstr>Motivation</vt:lpstr>
      <vt:lpstr>Objectives of the Project</vt:lpstr>
      <vt:lpstr>Dataset Overview</vt:lpstr>
      <vt:lpstr>Dataset</vt:lpstr>
      <vt:lpstr>Methodology / Approach</vt:lpstr>
      <vt:lpstr>Tools and Technologies Used</vt:lpstr>
      <vt:lpstr>Results</vt:lpstr>
      <vt:lpstr>Discussion / Analysis</vt:lpstr>
      <vt:lpstr>Conclusion and Future Work</vt:lpstr>
      <vt:lpstr>References / 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PRABHURAJ METIPATIL</dc:creator>
  <cp:lastModifiedBy>Dr.Sailaja Thota</cp:lastModifiedBy>
  <cp:revision>4</cp:revision>
  <dcterms:created xsi:type="dcterms:W3CDTF">2026-04-07T05:30:05Z</dcterms:created>
  <dcterms:modified xsi:type="dcterms:W3CDTF">2026-04-13T05:05:30Z</dcterms:modified>
</cp:coreProperties>
</file>